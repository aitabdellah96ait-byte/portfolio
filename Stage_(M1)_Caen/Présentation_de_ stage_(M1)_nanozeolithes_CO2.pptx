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314" r:id="rId4"/>
    <p:sldId id="491" r:id="rId5"/>
    <p:sldId id="516" r:id="rId6"/>
    <p:sldId id="517" r:id="rId7"/>
    <p:sldId id="502" r:id="rId8"/>
    <p:sldId id="257" r:id="rId9"/>
    <p:sldId id="494" r:id="rId10"/>
    <p:sldId id="497" r:id="rId11"/>
    <p:sldId id="527" r:id="rId12"/>
    <p:sldId id="492" r:id="rId13"/>
    <p:sldId id="498" r:id="rId14"/>
    <p:sldId id="499" r:id="rId15"/>
    <p:sldId id="508" r:id="rId16"/>
    <p:sldId id="509" r:id="rId17"/>
    <p:sldId id="510" r:id="rId18"/>
    <p:sldId id="530" r:id="rId19"/>
    <p:sldId id="511" r:id="rId20"/>
    <p:sldId id="500" r:id="rId21"/>
    <p:sldId id="515" r:id="rId22"/>
    <p:sldId id="493" r:id="rId23"/>
    <p:sldId id="525" r:id="rId24"/>
    <p:sldId id="524" r:id="rId25"/>
    <p:sldId id="526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tim-ezzahra Merfouk" initials="FM" lastIdx="14" clrIdx="0">
    <p:extLst>
      <p:ext uri="{19B8F6BF-5375-455C-9EA6-DF929625EA0E}">
        <p15:presenceInfo xmlns:p15="http://schemas.microsoft.com/office/powerpoint/2012/main" userId="Fatim-ezzahra Merfou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AF99"/>
    <a:srgbClr val="8AA58B"/>
    <a:srgbClr val="B1AA1F"/>
    <a:srgbClr val="04B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56977" autoAdjust="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B199CA-9167-4760-A899-EADACD7806A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2507D40-4AF9-4261-BAB5-D06684C76986}">
      <dgm:prSet phldrT="[Texte]"/>
      <dgm:spPr/>
      <dgm:t>
        <a:bodyPr/>
        <a:lstStyle/>
        <a:p>
          <a:r>
            <a:rPr lang="fr-FR" dirty="0"/>
            <a:t>Application</a:t>
          </a:r>
        </a:p>
      </dgm:t>
    </dgm:pt>
    <dgm:pt modelId="{6C47289F-0B67-44A4-AB3E-5B03C009AD40}" type="parTrans" cxnId="{E4DBA0EE-514C-4DBC-9A99-5B6DE71157D4}">
      <dgm:prSet/>
      <dgm:spPr/>
      <dgm:t>
        <a:bodyPr/>
        <a:lstStyle/>
        <a:p>
          <a:endParaRPr lang="fr-FR"/>
        </a:p>
      </dgm:t>
    </dgm:pt>
    <dgm:pt modelId="{D47475B8-677D-4E38-8CE9-2FDD3942C863}" type="sibTrans" cxnId="{E4DBA0EE-514C-4DBC-9A99-5B6DE71157D4}">
      <dgm:prSet/>
      <dgm:spPr/>
      <dgm:t>
        <a:bodyPr/>
        <a:lstStyle/>
        <a:p>
          <a:endParaRPr lang="fr-FR"/>
        </a:p>
      </dgm:t>
    </dgm:pt>
    <dgm:pt modelId="{7F6F8D90-F4D1-40A8-B81E-5C0B49DACFE3}">
      <dgm:prSet phldrT="[Texte]"/>
      <dgm:spPr/>
      <dgm:t>
        <a:bodyPr/>
        <a:lstStyle/>
        <a:p>
          <a:r>
            <a:rPr lang="fr-FR" dirty="0"/>
            <a:t>Filtration </a:t>
          </a:r>
        </a:p>
      </dgm:t>
    </dgm:pt>
    <dgm:pt modelId="{19346AA4-A15A-4B51-A6A6-12F1E496281C}" type="parTrans" cxnId="{5FE71006-FAF0-43CA-86B2-E028F62963CC}">
      <dgm:prSet/>
      <dgm:spPr/>
      <dgm:t>
        <a:bodyPr/>
        <a:lstStyle/>
        <a:p>
          <a:endParaRPr lang="fr-FR"/>
        </a:p>
      </dgm:t>
    </dgm:pt>
    <dgm:pt modelId="{E22E7BDA-8C49-4751-B3DA-42C3787B3AE7}" type="sibTrans" cxnId="{5FE71006-FAF0-43CA-86B2-E028F62963CC}">
      <dgm:prSet/>
      <dgm:spPr/>
      <dgm:t>
        <a:bodyPr/>
        <a:lstStyle/>
        <a:p>
          <a:endParaRPr lang="fr-FR"/>
        </a:p>
      </dgm:t>
    </dgm:pt>
    <dgm:pt modelId="{AEDCE349-8F17-47ED-AB78-C245960EC678}">
      <dgm:prSet phldrT="[Texte]"/>
      <dgm:spPr/>
      <dgm:t>
        <a:bodyPr/>
        <a:lstStyle/>
        <a:p>
          <a:r>
            <a:rPr lang="fr-FR" dirty="0"/>
            <a:t>Adsorption</a:t>
          </a:r>
        </a:p>
      </dgm:t>
    </dgm:pt>
    <dgm:pt modelId="{1BC03596-076A-4E5D-9E25-E1390A305CDE}" type="parTrans" cxnId="{423D55AE-96E3-4E00-A691-CE866D9D83E8}">
      <dgm:prSet/>
      <dgm:spPr/>
      <dgm:t>
        <a:bodyPr/>
        <a:lstStyle/>
        <a:p>
          <a:endParaRPr lang="fr-FR"/>
        </a:p>
      </dgm:t>
    </dgm:pt>
    <dgm:pt modelId="{ADAC0232-D801-42BD-BA90-8991A145001C}" type="sibTrans" cxnId="{423D55AE-96E3-4E00-A691-CE866D9D83E8}">
      <dgm:prSet/>
      <dgm:spPr/>
      <dgm:t>
        <a:bodyPr/>
        <a:lstStyle/>
        <a:p>
          <a:endParaRPr lang="fr-FR"/>
        </a:p>
      </dgm:t>
    </dgm:pt>
    <dgm:pt modelId="{F6BC5763-69ED-449E-A2EA-83522357CAAC}">
      <dgm:prSet phldrT="[Texte]"/>
      <dgm:spPr/>
      <dgm:t>
        <a:bodyPr/>
        <a:lstStyle/>
        <a:p>
          <a:r>
            <a:rPr lang="fr-FR" dirty="0"/>
            <a:t>Catalyse</a:t>
          </a:r>
        </a:p>
      </dgm:t>
    </dgm:pt>
    <dgm:pt modelId="{F9F00769-49CB-426B-ABCB-CD15CABA7260}" type="parTrans" cxnId="{DA2EE6F1-CBC5-4E5A-A565-DF9A92A1830A}">
      <dgm:prSet/>
      <dgm:spPr/>
      <dgm:t>
        <a:bodyPr/>
        <a:lstStyle/>
        <a:p>
          <a:endParaRPr lang="fr-FR"/>
        </a:p>
      </dgm:t>
    </dgm:pt>
    <dgm:pt modelId="{DE7E2EE9-F28D-4421-910E-D02A56AD1C6E}" type="sibTrans" cxnId="{DA2EE6F1-CBC5-4E5A-A565-DF9A92A1830A}">
      <dgm:prSet/>
      <dgm:spPr/>
      <dgm:t>
        <a:bodyPr/>
        <a:lstStyle/>
        <a:p>
          <a:endParaRPr lang="fr-FR"/>
        </a:p>
      </dgm:t>
    </dgm:pt>
    <dgm:pt modelId="{5C8EFDE5-2286-4DC1-BC44-7C98048EA136}" type="pres">
      <dgm:prSet presAssocID="{D4B199CA-9167-4760-A899-EADACD7806A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57DDD93-F3A2-4D01-8AC2-FCE240937C06}" type="pres">
      <dgm:prSet presAssocID="{92507D40-4AF9-4261-BAB5-D06684C76986}" presName="root1" presStyleCnt="0"/>
      <dgm:spPr/>
    </dgm:pt>
    <dgm:pt modelId="{2AA566A7-C102-45BF-961F-22257CD60E3F}" type="pres">
      <dgm:prSet presAssocID="{92507D40-4AF9-4261-BAB5-D06684C76986}" presName="LevelOneTextNode" presStyleLbl="node0" presStyleIdx="0" presStyleCnt="1" custScaleY="68588">
        <dgm:presLayoutVars>
          <dgm:chPref val="3"/>
        </dgm:presLayoutVars>
      </dgm:prSet>
      <dgm:spPr/>
    </dgm:pt>
    <dgm:pt modelId="{1CD456A5-CA4F-40B5-AA1C-5B35C525D66C}" type="pres">
      <dgm:prSet presAssocID="{92507D40-4AF9-4261-BAB5-D06684C76986}" presName="level2hierChild" presStyleCnt="0"/>
      <dgm:spPr/>
    </dgm:pt>
    <dgm:pt modelId="{427EA28B-121D-448F-873D-40F31E237E4E}" type="pres">
      <dgm:prSet presAssocID="{19346AA4-A15A-4B51-A6A6-12F1E496281C}" presName="conn2-1" presStyleLbl="parChTrans1D2" presStyleIdx="0" presStyleCnt="3"/>
      <dgm:spPr/>
    </dgm:pt>
    <dgm:pt modelId="{A2377DE8-B8CB-4BF5-A9A6-C57FF64C3EA3}" type="pres">
      <dgm:prSet presAssocID="{19346AA4-A15A-4B51-A6A6-12F1E496281C}" presName="connTx" presStyleLbl="parChTrans1D2" presStyleIdx="0" presStyleCnt="3"/>
      <dgm:spPr/>
    </dgm:pt>
    <dgm:pt modelId="{5B82B04D-2D59-46D8-B442-9E4ED369D5B2}" type="pres">
      <dgm:prSet presAssocID="{7F6F8D90-F4D1-40A8-B81E-5C0B49DACFE3}" presName="root2" presStyleCnt="0"/>
      <dgm:spPr/>
    </dgm:pt>
    <dgm:pt modelId="{701B5203-46FE-41AE-8325-51B52A647B00}" type="pres">
      <dgm:prSet presAssocID="{7F6F8D90-F4D1-40A8-B81E-5C0B49DACFE3}" presName="LevelTwoTextNode" presStyleLbl="node2" presStyleIdx="0" presStyleCnt="3">
        <dgm:presLayoutVars>
          <dgm:chPref val="3"/>
        </dgm:presLayoutVars>
      </dgm:prSet>
      <dgm:spPr/>
    </dgm:pt>
    <dgm:pt modelId="{32C98507-68E6-4B0E-9AF5-06101485163C}" type="pres">
      <dgm:prSet presAssocID="{7F6F8D90-F4D1-40A8-B81E-5C0B49DACFE3}" presName="level3hierChild" presStyleCnt="0"/>
      <dgm:spPr/>
    </dgm:pt>
    <dgm:pt modelId="{C1172FD3-29D0-4AFD-B196-02A873DD9ECE}" type="pres">
      <dgm:prSet presAssocID="{1BC03596-076A-4E5D-9E25-E1390A305CDE}" presName="conn2-1" presStyleLbl="parChTrans1D2" presStyleIdx="1" presStyleCnt="3"/>
      <dgm:spPr/>
    </dgm:pt>
    <dgm:pt modelId="{089CA8AB-2706-4367-8F12-47A46D43682A}" type="pres">
      <dgm:prSet presAssocID="{1BC03596-076A-4E5D-9E25-E1390A305CDE}" presName="connTx" presStyleLbl="parChTrans1D2" presStyleIdx="1" presStyleCnt="3"/>
      <dgm:spPr/>
    </dgm:pt>
    <dgm:pt modelId="{670067EB-75D7-4F6F-9FC6-F5BBBF2B47CC}" type="pres">
      <dgm:prSet presAssocID="{AEDCE349-8F17-47ED-AB78-C245960EC678}" presName="root2" presStyleCnt="0"/>
      <dgm:spPr/>
    </dgm:pt>
    <dgm:pt modelId="{922F3183-FE61-46C6-BAF8-4595BF015CD2}" type="pres">
      <dgm:prSet presAssocID="{AEDCE349-8F17-47ED-AB78-C245960EC678}" presName="LevelTwoTextNode" presStyleLbl="node2" presStyleIdx="1" presStyleCnt="3">
        <dgm:presLayoutVars>
          <dgm:chPref val="3"/>
        </dgm:presLayoutVars>
      </dgm:prSet>
      <dgm:spPr/>
    </dgm:pt>
    <dgm:pt modelId="{1F61E94A-E42A-4611-8538-C034BD000ACB}" type="pres">
      <dgm:prSet presAssocID="{AEDCE349-8F17-47ED-AB78-C245960EC678}" presName="level3hierChild" presStyleCnt="0"/>
      <dgm:spPr/>
    </dgm:pt>
    <dgm:pt modelId="{6189C3E6-71D2-4CC9-ADBE-12E939F4DC41}" type="pres">
      <dgm:prSet presAssocID="{F9F00769-49CB-426B-ABCB-CD15CABA7260}" presName="conn2-1" presStyleLbl="parChTrans1D2" presStyleIdx="2" presStyleCnt="3"/>
      <dgm:spPr/>
    </dgm:pt>
    <dgm:pt modelId="{472F9663-C390-4655-82B7-892F84CA3A6D}" type="pres">
      <dgm:prSet presAssocID="{F9F00769-49CB-426B-ABCB-CD15CABA7260}" presName="connTx" presStyleLbl="parChTrans1D2" presStyleIdx="2" presStyleCnt="3"/>
      <dgm:spPr/>
    </dgm:pt>
    <dgm:pt modelId="{81F04EB7-C435-41E2-B5D8-0164713EFC1D}" type="pres">
      <dgm:prSet presAssocID="{F6BC5763-69ED-449E-A2EA-83522357CAAC}" presName="root2" presStyleCnt="0"/>
      <dgm:spPr/>
    </dgm:pt>
    <dgm:pt modelId="{ED1CE0C1-072B-4434-97FC-309924951E4F}" type="pres">
      <dgm:prSet presAssocID="{F6BC5763-69ED-449E-A2EA-83522357CAAC}" presName="LevelTwoTextNode" presStyleLbl="node2" presStyleIdx="2" presStyleCnt="3">
        <dgm:presLayoutVars>
          <dgm:chPref val="3"/>
        </dgm:presLayoutVars>
      </dgm:prSet>
      <dgm:spPr/>
    </dgm:pt>
    <dgm:pt modelId="{71EA19E3-5B09-4BC6-B01F-9DAAA843AEA7}" type="pres">
      <dgm:prSet presAssocID="{F6BC5763-69ED-449E-A2EA-83522357CAAC}" presName="level3hierChild" presStyleCnt="0"/>
      <dgm:spPr/>
    </dgm:pt>
  </dgm:ptLst>
  <dgm:cxnLst>
    <dgm:cxn modelId="{51452005-A1CB-482A-A763-4187B093CE6D}" type="presOf" srcId="{1BC03596-076A-4E5D-9E25-E1390A305CDE}" destId="{C1172FD3-29D0-4AFD-B196-02A873DD9ECE}" srcOrd="0" destOrd="0" presId="urn:microsoft.com/office/officeart/2008/layout/HorizontalMultiLevelHierarchy"/>
    <dgm:cxn modelId="{5FE71006-FAF0-43CA-86B2-E028F62963CC}" srcId="{92507D40-4AF9-4261-BAB5-D06684C76986}" destId="{7F6F8D90-F4D1-40A8-B81E-5C0B49DACFE3}" srcOrd="0" destOrd="0" parTransId="{19346AA4-A15A-4B51-A6A6-12F1E496281C}" sibTransId="{E22E7BDA-8C49-4751-B3DA-42C3787B3AE7}"/>
    <dgm:cxn modelId="{32B56C0F-F5DE-40FC-86B4-B1ED0029B250}" type="presOf" srcId="{F9F00769-49CB-426B-ABCB-CD15CABA7260}" destId="{6189C3E6-71D2-4CC9-ADBE-12E939F4DC41}" srcOrd="0" destOrd="0" presId="urn:microsoft.com/office/officeart/2008/layout/HorizontalMultiLevelHierarchy"/>
    <dgm:cxn modelId="{1AF40741-C2A8-4355-8DEA-FEC3D28236B9}" type="presOf" srcId="{F9F00769-49CB-426B-ABCB-CD15CABA7260}" destId="{472F9663-C390-4655-82B7-892F84CA3A6D}" srcOrd="1" destOrd="0" presId="urn:microsoft.com/office/officeart/2008/layout/HorizontalMultiLevelHierarchy"/>
    <dgm:cxn modelId="{2AF4CF4A-EFFA-4099-9FC4-D9E76866FA63}" type="presOf" srcId="{19346AA4-A15A-4B51-A6A6-12F1E496281C}" destId="{427EA28B-121D-448F-873D-40F31E237E4E}" srcOrd="0" destOrd="0" presId="urn:microsoft.com/office/officeart/2008/layout/HorizontalMultiLevelHierarchy"/>
    <dgm:cxn modelId="{A2212871-D563-41C6-80AB-76618F91D6AE}" type="presOf" srcId="{AEDCE349-8F17-47ED-AB78-C245960EC678}" destId="{922F3183-FE61-46C6-BAF8-4595BF015CD2}" srcOrd="0" destOrd="0" presId="urn:microsoft.com/office/officeart/2008/layout/HorizontalMultiLevelHierarchy"/>
    <dgm:cxn modelId="{846E7975-52A9-46E6-82C1-FAA88964BCB4}" type="presOf" srcId="{F6BC5763-69ED-449E-A2EA-83522357CAAC}" destId="{ED1CE0C1-072B-4434-97FC-309924951E4F}" srcOrd="0" destOrd="0" presId="urn:microsoft.com/office/officeart/2008/layout/HorizontalMultiLevelHierarchy"/>
    <dgm:cxn modelId="{4CD26E9E-17EE-479D-9DB0-96731AE22AE2}" type="presOf" srcId="{1BC03596-076A-4E5D-9E25-E1390A305CDE}" destId="{089CA8AB-2706-4367-8F12-47A46D43682A}" srcOrd="1" destOrd="0" presId="urn:microsoft.com/office/officeart/2008/layout/HorizontalMultiLevelHierarchy"/>
    <dgm:cxn modelId="{B33E29A0-2140-4C27-9A77-77A81E5EF263}" type="presOf" srcId="{19346AA4-A15A-4B51-A6A6-12F1E496281C}" destId="{A2377DE8-B8CB-4BF5-A9A6-C57FF64C3EA3}" srcOrd="1" destOrd="0" presId="urn:microsoft.com/office/officeart/2008/layout/HorizontalMultiLevelHierarchy"/>
    <dgm:cxn modelId="{423D55AE-96E3-4E00-A691-CE866D9D83E8}" srcId="{92507D40-4AF9-4261-BAB5-D06684C76986}" destId="{AEDCE349-8F17-47ED-AB78-C245960EC678}" srcOrd="1" destOrd="0" parTransId="{1BC03596-076A-4E5D-9E25-E1390A305CDE}" sibTransId="{ADAC0232-D801-42BD-BA90-8991A145001C}"/>
    <dgm:cxn modelId="{974AF9B5-E9CA-4CF6-A1AD-4385A7753781}" type="presOf" srcId="{7F6F8D90-F4D1-40A8-B81E-5C0B49DACFE3}" destId="{701B5203-46FE-41AE-8325-51B52A647B00}" srcOrd="0" destOrd="0" presId="urn:microsoft.com/office/officeart/2008/layout/HorizontalMultiLevelHierarchy"/>
    <dgm:cxn modelId="{255D32CB-05DE-4FE4-84C7-6CEEF7048588}" type="presOf" srcId="{92507D40-4AF9-4261-BAB5-D06684C76986}" destId="{2AA566A7-C102-45BF-961F-22257CD60E3F}" srcOrd="0" destOrd="0" presId="urn:microsoft.com/office/officeart/2008/layout/HorizontalMultiLevelHierarchy"/>
    <dgm:cxn modelId="{791019E4-4932-4126-83A7-37DCDFE5C23A}" type="presOf" srcId="{D4B199CA-9167-4760-A899-EADACD7806AC}" destId="{5C8EFDE5-2286-4DC1-BC44-7C98048EA136}" srcOrd="0" destOrd="0" presId="urn:microsoft.com/office/officeart/2008/layout/HorizontalMultiLevelHierarchy"/>
    <dgm:cxn modelId="{E4DBA0EE-514C-4DBC-9A99-5B6DE71157D4}" srcId="{D4B199CA-9167-4760-A899-EADACD7806AC}" destId="{92507D40-4AF9-4261-BAB5-D06684C76986}" srcOrd="0" destOrd="0" parTransId="{6C47289F-0B67-44A4-AB3E-5B03C009AD40}" sibTransId="{D47475B8-677D-4E38-8CE9-2FDD3942C863}"/>
    <dgm:cxn modelId="{DA2EE6F1-CBC5-4E5A-A565-DF9A92A1830A}" srcId="{92507D40-4AF9-4261-BAB5-D06684C76986}" destId="{F6BC5763-69ED-449E-A2EA-83522357CAAC}" srcOrd="2" destOrd="0" parTransId="{F9F00769-49CB-426B-ABCB-CD15CABA7260}" sibTransId="{DE7E2EE9-F28D-4421-910E-D02A56AD1C6E}"/>
    <dgm:cxn modelId="{3E0724C1-B713-4F3F-92E0-AA87FA4A7C39}" type="presParOf" srcId="{5C8EFDE5-2286-4DC1-BC44-7C98048EA136}" destId="{F57DDD93-F3A2-4D01-8AC2-FCE240937C06}" srcOrd="0" destOrd="0" presId="urn:microsoft.com/office/officeart/2008/layout/HorizontalMultiLevelHierarchy"/>
    <dgm:cxn modelId="{D08DC8F8-ACB1-4D26-BB4D-6B932813C1E5}" type="presParOf" srcId="{F57DDD93-F3A2-4D01-8AC2-FCE240937C06}" destId="{2AA566A7-C102-45BF-961F-22257CD60E3F}" srcOrd="0" destOrd="0" presId="urn:microsoft.com/office/officeart/2008/layout/HorizontalMultiLevelHierarchy"/>
    <dgm:cxn modelId="{34C91168-18B1-4348-8AFA-44CEE07D5A15}" type="presParOf" srcId="{F57DDD93-F3A2-4D01-8AC2-FCE240937C06}" destId="{1CD456A5-CA4F-40B5-AA1C-5B35C525D66C}" srcOrd="1" destOrd="0" presId="urn:microsoft.com/office/officeart/2008/layout/HorizontalMultiLevelHierarchy"/>
    <dgm:cxn modelId="{D0F8A77E-8161-4748-AC2D-53ECDDAA7D71}" type="presParOf" srcId="{1CD456A5-CA4F-40B5-AA1C-5B35C525D66C}" destId="{427EA28B-121D-448F-873D-40F31E237E4E}" srcOrd="0" destOrd="0" presId="urn:microsoft.com/office/officeart/2008/layout/HorizontalMultiLevelHierarchy"/>
    <dgm:cxn modelId="{B273B196-2004-41F9-840A-C9583B846B72}" type="presParOf" srcId="{427EA28B-121D-448F-873D-40F31E237E4E}" destId="{A2377DE8-B8CB-4BF5-A9A6-C57FF64C3EA3}" srcOrd="0" destOrd="0" presId="urn:microsoft.com/office/officeart/2008/layout/HorizontalMultiLevelHierarchy"/>
    <dgm:cxn modelId="{590672B6-62E7-47FC-B8A5-2F7E94B856CB}" type="presParOf" srcId="{1CD456A5-CA4F-40B5-AA1C-5B35C525D66C}" destId="{5B82B04D-2D59-46D8-B442-9E4ED369D5B2}" srcOrd="1" destOrd="0" presId="urn:microsoft.com/office/officeart/2008/layout/HorizontalMultiLevelHierarchy"/>
    <dgm:cxn modelId="{7330865F-654F-4097-802C-B2D315651774}" type="presParOf" srcId="{5B82B04D-2D59-46D8-B442-9E4ED369D5B2}" destId="{701B5203-46FE-41AE-8325-51B52A647B00}" srcOrd="0" destOrd="0" presId="urn:microsoft.com/office/officeart/2008/layout/HorizontalMultiLevelHierarchy"/>
    <dgm:cxn modelId="{D16329DC-D70A-45DA-8722-5DDB8117FBFC}" type="presParOf" srcId="{5B82B04D-2D59-46D8-B442-9E4ED369D5B2}" destId="{32C98507-68E6-4B0E-9AF5-06101485163C}" srcOrd="1" destOrd="0" presId="urn:microsoft.com/office/officeart/2008/layout/HorizontalMultiLevelHierarchy"/>
    <dgm:cxn modelId="{3B61B4EB-30CF-4434-AF99-09D594FDFC96}" type="presParOf" srcId="{1CD456A5-CA4F-40B5-AA1C-5B35C525D66C}" destId="{C1172FD3-29D0-4AFD-B196-02A873DD9ECE}" srcOrd="2" destOrd="0" presId="urn:microsoft.com/office/officeart/2008/layout/HorizontalMultiLevelHierarchy"/>
    <dgm:cxn modelId="{0B5BB99F-9CDE-4630-9458-68FF99164E93}" type="presParOf" srcId="{C1172FD3-29D0-4AFD-B196-02A873DD9ECE}" destId="{089CA8AB-2706-4367-8F12-47A46D43682A}" srcOrd="0" destOrd="0" presId="urn:microsoft.com/office/officeart/2008/layout/HorizontalMultiLevelHierarchy"/>
    <dgm:cxn modelId="{04479623-F4FB-4531-B301-287951C5A203}" type="presParOf" srcId="{1CD456A5-CA4F-40B5-AA1C-5B35C525D66C}" destId="{670067EB-75D7-4F6F-9FC6-F5BBBF2B47CC}" srcOrd="3" destOrd="0" presId="urn:microsoft.com/office/officeart/2008/layout/HorizontalMultiLevelHierarchy"/>
    <dgm:cxn modelId="{81C27D4F-84A1-4635-AE7F-A4602061C5A9}" type="presParOf" srcId="{670067EB-75D7-4F6F-9FC6-F5BBBF2B47CC}" destId="{922F3183-FE61-46C6-BAF8-4595BF015CD2}" srcOrd="0" destOrd="0" presId="urn:microsoft.com/office/officeart/2008/layout/HorizontalMultiLevelHierarchy"/>
    <dgm:cxn modelId="{FDB011C3-F7B4-4C8A-B0CA-023C2B571E69}" type="presParOf" srcId="{670067EB-75D7-4F6F-9FC6-F5BBBF2B47CC}" destId="{1F61E94A-E42A-4611-8538-C034BD000ACB}" srcOrd="1" destOrd="0" presId="urn:microsoft.com/office/officeart/2008/layout/HorizontalMultiLevelHierarchy"/>
    <dgm:cxn modelId="{60BAAB4A-C13A-4A38-BCBF-0F2BB2EED7C0}" type="presParOf" srcId="{1CD456A5-CA4F-40B5-AA1C-5B35C525D66C}" destId="{6189C3E6-71D2-4CC9-ADBE-12E939F4DC41}" srcOrd="4" destOrd="0" presId="urn:microsoft.com/office/officeart/2008/layout/HorizontalMultiLevelHierarchy"/>
    <dgm:cxn modelId="{C2D7F847-81D1-4F61-AA09-850B0682EDAF}" type="presParOf" srcId="{6189C3E6-71D2-4CC9-ADBE-12E939F4DC41}" destId="{472F9663-C390-4655-82B7-892F84CA3A6D}" srcOrd="0" destOrd="0" presId="urn:microsoft.com/office/officeart/2008/layout/HorizontalMultiLevelHierarchy"/>
    <dgm:cxn modelId="{A1197B9E-448E-490F-95C7-6E2B419D9C42}" type="presParOf" srcId="{1CD456A5-CA4F-40B5-AA1C-5B35C525D66C}" destId="{81F04EB7-C435-41E2-B5D8-0164713EFC1D}" srcOrd="5" destOrd="0" presId="urn:microsoft.com/office/officeart/2008/layout/HorizontalMultiLevelHierarchy"/>
    <dgm:cxn modelId="{2D5C5992-0182-4E6F-BD7D-536481947A66}" type="presParOf" srcId="{81F04EB7-C435-41E2-B5D8-0164713EFC1D}" destId="{ED1CE0C1-072B-4434-97FC-309924951E4F}" srcOrd="0" destOrd="0" presId="urn:microsoft.com/office/officeart/2008/layout/HorizontalMultiLevelHierarchy"/>
    <dgm:cxn modelId="{16C263C7-7B5A-480B-97CD-FCDF9FB6349D}" type="presParOf" srcId="{81F04EB7-C435-41E2-B5D8-0164713EFC1D}" destId="{71EA19E3-5B09-4BC6-B01F-9DAAA843AEA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616ACD-596D-464B-9D3E-8AFCA3E79137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A7DE7BC-8B68-493E-BEFE-768E57D332CC}">
      <dgm:prSet phldrT="[Texte]"/>
      <dgm:spPr/>
      <dgm:t>
        <a:bodyPr/>
        <a:lstStyle/>
        <a:p>
          <a:r>
            <a:rPr lang="fr-FR" dirty="0"/>
            <a:t>Technique d’analyses </a:t>
          </a:r>
        </a:p>
      </dgm:t>
    </dgm:pt>
    <dgm:pt modelId="{27E47B32-B489-472D-94C1-7DE2DE4C8CEE}" type="parTrans" cxnId="{299E2D3B-77E5-47C8-BF68-F81C426929B2}">
      <dgm:prSet/>
      <dgm:spPr/>
      <dgm:t>
        <a:bodyPr/>
        <a:lstStyle/>
        <a:p>
          <a:endParaRPr lang="fr-FR"/>
        </a:p>
      </dgm:t>
    </dgm:pt>
    <dgm:pt modelId="{81BE3B31-7EF6-45C6-A08C-66B789C7EBF5}" type="sibTrans" cxnId="{299E2D3B-77E5-47C8-BF68-F81C426929B2}">
      <dgm:prSet/>
      <dgm:spPr/>
      <dgm:t>
        <a:bodyPr/>
        <a:lstStyle/>
        <a:p>
          <a:endParaRPr lang="fr-FR"/>
        </a:p>
      </dgm:t>
    </dgm:pt>
    <dgm:pt modelId="{94B410DA-81F2-4B9B-9C00-31E69AEC4C86}">
      <dgm:prSet phldrT="[Texte]"/>
      <dgm:spPr/>
      <dgm:t>
        <a:bodyPr/>
        <a:lstStyle/>
        <a:p>
          <a:r>
            <a:rPr lang="fr-FR" dirty="0"/>
            <a:t>DRX</a:t>
          </a:r>
        </a:p>
      </dgm:t>
    </dgm:pt>
    <dgm:pt modelId="{FBAAC52A-6B72-417A-B1C4-806AB6CAB298}" type="parTrans" cxnId="{043ABE05-045C-4111-BC6E-248F5B196C56}">
      <dgm:prSet/>
      <dgm:spPr/>
      <dgm:t>
        <a:bodyPr/>
        <a:lstStyle/>
        <a:p>
          <a:endParaRPr lang="fr-FR"/>
        </a:p>
      </dgm:t>
    </dgm:pt>
    <dgm:pt modelId="{CC814F2F-331E-40E9-83D0-FCF951173B7D}" type="sibTrans" cxnId="{043ABE05-045C-4111-BC6E-248F5B196C56}">
      <dgm:prSet/>
      <dgm:spPr/>
      <dgm:t>
        <a:bodyPr/>
        <a:lstStyle/>
        <a:p>
          <a:endParaRPr lang="fr-FR"/>
        </a:p>
      </dgm:t>
    </dgm:pt>
    <dgm:pt modelId="{A0316388-D933-49B1-8DB1-8E8EED6286CD}">
      <dgm:prSet phldrT="[Texte]"/>
      <dgm:spPr/>
      <dgm:t>
        <a:bodyPr/>
        <a:lstStyle/>
        <a:p>
          <a:r>
            <a:rPr lang="fr-FR" dirty="0"/>
            <a:t>MEB-EDS</a:t>
          </a:r>
        </a:p>
      </dgm:t>
    </dgm:pt>
    <dgm:pt modelId="{DDF5E70F-9307-4A1D-9F64-B515DA46E3A0}" type="parTrans" cxnId="{DADAFE7C-0471-4DC3-B067-F96954431A2C}">
      <dgm:prSet/>
      <dgm:spPr/>
      <dgm:t>
        <a:bodyPr/>
        <a:lstStyle/>
        <a:p>
          <a:endParaRPr lang="fr-FR"/>
        </a:p>
      </dgm:t>
    </dgm:pt>
    <dgm:pt modelId="{69790303-5B5A-4CAA-B725-0F37CB76F77B}" type="sibTrans" cxnId="{DADAFE7C-0471-4DC3-B067-F96954431A2C}">
      <dgm:prSet/>
      <dgm:spPr/>
      <dgm:t>
        <a:bodyPr/>
        <a:lstStyle/>
        <a:p>
          <a:endParaRPr lang="fr-FR"/>
        </a:p>
      </dgm:t>
    </dgm:pt>
    <dgm:pt modelId="{23AE107C-1426-4335-AD06-9DBDBA30E7DA}">
      <dgm:prSet phldrT="[Texte]"/>
      <dgm:spPr/>
      <dgm:t>
        <a:bodyPr/>
        <a:lstStyle/>
        <a:p>
          <a:r>
            <a:rPr lang="fr-FR" dirty="0"/>
            <a:t>ATG-DTG</a:t>
          </a:r>
        </a:p>
      </dgm:t>
    </dgm:pt>
    <dgm:pt modelId="{1F5B2C70-FAFC-4B8C-922F-1D1A877B827A}" type="parTrans" cxnId="{78E402F1-24B0-4C9B-BCC2-DAFF6593F15C}">
      <dgm:prSet/>
      <dgm:spPr/>
      <dgm:t>
        <a:bodyPr/>
        <a:lstStyle/>
        <a:p>
          <a:endParaRPr lang="fr-FR"/>
        </a:p>
      </dgm:t>
    </dgm:pt>
    <dgm:pt modelId="{A797ADA4-52DB-412A-96E7-88027749227D}" type="sibTrans" cxnId="{78E402F1-24B0-4C9B-BCC2-DAFF6593F15C}">
      <dgm:prSet/>
      <dgm:spPr/>
      <dgm:t>
        <a:bodyPr/>
        <a:lstStyle/>
        <a:p>
          <a:endParaRPr lang="fr-FR"/>
        </a:p>
      </dgm:t>
    </dgm:pt>
    <dgm:pt modelId="{95FF402C-C931-417E-901E-3638D5D17D14}">
      <dgm:prSet phldrT="[Texte]"/>
      <dgm:spPr/>
      <dgm:t>
        <a:bodyPr/>
        <a:lstStyle/>
        <a:p>
          <a:r>
            <a:rPr lang="fr-FR" dirty="0"/>
            <a:t>TPD</a:t>
          </a:r>
        </a:p>
      </dgm:t>
    </dgm:pt>
    <dgm:pt modelId="{0D3D62EB-3A32-4C41-8D08-9307F95B3F2C}" type="parTrans" cxnId="{4695595B-BE66-42CE-8E84-F45F540F25B1}">
      <dgm:prSet/>
      <dgm:spPr/>
      <dgm:t>
        <a:bodyPr/>
        <a:lstStyle/>
        <a:p>
          <a:endParaRPr lang="fr-FR"/>
        </a:p>
      </dgm:t>
    </dgm:pt>
    <dgm:pt modelId="{58FF97D4-AB7E-4F23-9C82-BDD471AF4DD7}" type="sibTrans" cxnId="{4695595B-BE66-42CE-8E84-F45F540F25B1}">
      <dgm:prSet/>
      <dgm:spPr/>
      <dgm:t>
        <a:bodyPr/>
        <a:lstStyle/>
        <a:p>
          <a:endParaRPr lang="fr-FR"/>
        </a:p>
      </dgm:t>
    </dgm:pt>
    <dgm:pt modelId="{791A0E5C-A9C6-4414-95D8-B29A4FC13634}">
      <dgm:prSet phldrT="[Texte]"/>
      <dgm:spPr/>
      <dgm:t>
        <a:bodyPr/>
        <a:lstStyle/>
        <a:p>
          <a:r>
            <a:rPr lang="fr-FR" dirty="0"/>
            <a:t>FTIR in situ</a:t>
          </a:r>
        </a:p>
      </dgm:t>
    </dgm:pt>
    <dgm:pt modelId="{7240C87B-8EDF-4863-ACAC-BF36C051FA6F}" type="parTrans" cxnId="{3D897731-BFE7-45FC-8230-491DFF52E163}">
      <dgm:prSet/>
      <dgm:spPr/>
      <dgm:t>
        <a:bodyPr/>
        <a:lstStyle/>
        <a:p>
          <a:endParaRPr lang="fr-FR"/>
        </a:p>
      </dgm:t>
    </dgm:pt>
    <dgm:pt modelId="{BC7DDBFA-7FA2-4CA1-92D6-C40855DA951D}" type="sibTrans" cxnId="{3D897731-BFE7-45FC-8230-491DFF52E163}">
      <dgm:prSet/>
      <dgm:spPr/>
      <dgm:t>
        <a:bodyPr/>
        <a:lstStyle/>
        <a:p>
          <a:endParaRPr lang="fr-FR"/>
        </a:p>
      </dgm:t>
    </dgm:pt>
    <dgm:pt modelId="{690DB899-2D8B-4438-97D4-C08B14D59695}" type="pres">
      <dgm:prSet presAssocID="{31616ACD-596D-464B-9D3E-8AFCA3E7913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419C9B2-86E0-4578-A8D8-48487AAAD4F6}" type="pres">
      <dgm:prSet presAssocID="{FA7DE7BC-8B68-493E-BEFE-768E57D332CC}" presName="centerShape" presStyleLbl="node0" presStyleIdx="0" presStyleCnt="1"/>
      <dgm:spPr/>
    </dgm:pt>
    <dgm:pt modelId="{8136E5E7-3371-4349-9E74-A41D6B2B4BAA}" type="pres">
      <dgm:prSet presAssocID="{FBAAC52A-6B72-417A-B1C4-806AB6CAB298}" presName="parTrans" presStyleLbl="sibTrans2D1" presStyleIdx="0" presStyleCnt="5"/>
      <dgm:spPr/>
    </dgm:pt>
    <dgm:pt modelId="{AF2A0251-EDAD-411B-97D6-96AFE43272CC}" type="pres">
      <dgm:prSet presAssocID="{FBAAC52A-6B72-417A-B1C4-806AB6CAB298}" presName="connectorText" presStyleLbl="sibTrans2D1" presStyleIdx="0" presStyleCnt="5"/>
      <dgm:spPr/>
    </dgm:pt>
    <dgm:pt modelId="{284CE03A-2A66-46C1-BFAA-E1E6C7A9B948}" type="pres">
      <dgm:prSet presAssocID="{94B410DA-81F2-4B9B-9C00-31E69AEC4C86}" presName="node" presStyleLbl="node1" presStyleIdx="0" presStyleCnt="5">
        <dgm:presLayoutVars>
          <dgm:bulletEnabled val="1"/>
        </dgm:presLayoutVars>
      </dgm:prSet>
      <dgm:spPr/>
    </dgm:pt>
    <dgm:pt modelId="{A0990033-BF3E-4B24-9F70-FD9E18ADB113}" type="pres">
      <dgm:prSet presAssocID="{DDF5E70F-9307-4A1D-9F64-B515DA46E3A0}" presName="parTrans" presStyleLbl="sibTrans2D1" presStyleIdx="1" presStyleCnt="5"/>
      <dgm:spPr/>
    </dgm:pt>
    <dgm:pt modelId="{23C998AB-E490-4B83-A8B2-C4A5560D996B}" type="pres">
      <dgm:prSet presAssocID="{DDF5E70F-9307-4A1D-9F64-B515DA46E3A0}" presName="connectorText" presStyleLbl="sibTrans2D1" presStyleIdx="1" presStyleCnt="5"/>
      <dgm:spPr/>
    </dgm:pt>
    <dgm:pt modelId="{BA0922B8-9554-4A4B-9C4E-EF21562FC308}" type="pres">
      <dgm:prSet presAssocID="{A0316388-D933-49B1-8DB1-8E8EED6286CD}" presName="node" presStyleLbl="node1" presStyleIdx="1" presStyleCnt="5">
        <dgm:presLayoutVars>
          <dgm:bulletEnabled val="1"/>
        </dgm:presLayoutVars>
      </dgm:prSet>
      <dgm:spPr/>
    </dgm:pt>
    <dgm:pt modelId="{C717B715-AE63-4360-A4D3-8719E3A37A80}" type="pres">
      <dgm:prSet presAssocID="{1F5B2C70-FAFC-4B8C-922F-1D1A877B827A}" presName="parTrans" presStyleLbl="sibTrans2D1" presStyleIdx="2" presStyleCnt="5"/>
      <dgm:spPr/>
    </dgm:pt>
    <dgm:pt modelId="{E01F9DB3-93C5-48AB-9251-A369BB1E641E}" type="pres">
      <dgm:prSet presAssocID="{1F5B2C70-FAFC-4B8C-922F-1D1A877B827A}" presName="connectorText" presStyleLbl="sibTrans2D1" presStyleIdx="2" presStyleCnt="5"/>
      <dgm:spPr/>
    </dgm:pt>
    <dgm:pt modelId="{9E6D1ACB-AF77-4433-BBCE-D9ACA6728B0C}" type="pres">
      <dgm:prSet presAssocID="{23AE107C-1426-4335-AD06-9DBDBA30E7DA}" presName="node" presStyleLbl="node1" presStyleIdx="2" presStyleCnt="5">
        <dgm:presLayoutVars>
          <dgm:bulletEnabled val="1"/>
        </dgm:presLayoutVars>
      </dgm:prSet>
      <dgm:spPr/>
    </dgm:pt>
    <dgm:pt modelId="{48054491-A620-4539-B2F7-3D021DA4EF85}" type="pres">
      <dgm:prSet presAssocID="{0D3D62EB-3A32-4C41-8D08-9307F95B3F2C}" presName="parTrans" presStyleLbl="sibTrans2D1" presStyleIdx="3" presStyleCnt="5"/>
      <dgm:spPr/>
    </dgm:pt>
    <dgm:pt modelId="{24945E16-9DA1-496B-BE51-2A00103C99B2}" type="pres">
      <dgm:prSet presAssocID="{0D3D62EB-3A32-4C41-8D08-9307F95B3F2C}" presName="connectorText" presStyleLbl="sibTrans2D1" presStyleIdx="3" presStyleCnt="5"/>
      <dgm:spPr/>
    </dgm:pt>
    <dgm:pt modelId="{791F2086-5BDF-4682-9DB6-E6BE7A69A6D2}" type="pres">
      <dgm:prSet presAssocID="{95FF402C-C931-417E-901E-3638D5D17D14}" presName="node" presStyleLbl="node1" presStyleIdx="3" presStyleCnt="5">
        <dgm:presLayoutVars>
          <dgm:bulletEnabled val="1"/>
        </dgm:presLayoutVars>
      </dgm:prSet>
      <dgm:spPr/>
    </dgm:pt>
    <dgm:pt modelId="{17175EBD-172F-49B0-AA26-7A8D966CCA95}" type="pres">
      <dgm:prSet presAssocID="{7240C87B-8EDF-4863-ACAC-BF36C051FA6F}" presName="parTrans" presStyleLbl="sibTrans2D1" presStyleIdx="4" presStyleCnt="5"/>
      <dgm:spPr/>
    </dgm:pt>
    <dgm:pt modelId="{B37E4B56-E77F-4EF2-BEE5-1C669D8CB363}" type="pres">
      <dgm:prSet presAssocID="{7240C87B-8EDF-4863-ACAC-BF36C051FA6F}" presName="connectorText" presStyleLbl="sibTrans2D1" presStyleIdx="4" presStyleCnt="5"/>
      <dgm:spPr/>
    </dgm:pt>
    <dgm:pt modelId="{02E9C220-1B2A-4FAB-89F9-B30ED918B52D}" type="pres">
      <dgm:prSet presAssocID="{791A0E5C-A9C6-4414-95D8-B29A4FC13634}" presName="node" presStyleLbl="node1" presStyleIdx="4" presStyleCnt="5">
        <dgm:presLayoutVars>
          <dgm:bulletEnabled val="1"/>
        </dgm:presLayoutVars>
      </dgm:prSet>
      <dgm:spPr/>
    </dgm:pt>
  </dgm:ptLst>
  <dgm:cxnLst>
    <dgm:cxn modelId="{043ABE05-045C-4111-BC6E-248F5B196C56}" srcId="{FA7DE7BC-8B68-493E-BEFE-768E57D332CC}" destId="{94B410DA-81F2-4B9B-9C00-31E69AEC4C86}" srcOrd="0" destOrd="0" parTransId="{FBAAC52A-6B72-417A-B1C4-806AB6CAB298}" sibTransId="{CC814F2F-331E-40E9-83D0-FCF951173B7D}"/>
    <dgm:cxn modelId="{1B788A11-B48A-4936-9B46-77BFF838AD0C}" type="presOf" srcId="{23AE107C-1426-4335-AD06-9DBDBA30E7DA}" destId="{9E6D1ACB-AF77-4433-BBCE-D9ACA6728B0C}" srcOrd="0" destOrd="0" presId="urn:microsoft.com/office/officeart/2005/8/layout/radial5"/>
    <dgm:cxn modelId="{BBA86526-6462-4219-9F64-EE9F31443CA5}" type="presOf" srcId="{95FF402C-C931-417E-901E-3638D5D17D14}" destId="{791F2086-5BDF-4682-9DB6-E6BE7A69A6D2}" srcOrd="0" destOrd="0" presId="urn:microsoft.com/office/officeart/2005/8/layout/radial5"/>
    <dgm:cxn modelId="{0A5E8427-2997-4BB8-8260-2717D0CC5E93}" type="presOf" srcId="{7240C87B-8EDF-4863-ACAC-BF36C051FA6F}" destId="{17175EBD-172F-49B0-AA26-7A8D966CCA95}" srcOrd="0" destOrd="0" presId="urn:microsoft.com/office/officeart/2005/8/layout/radial5"/>
    <dgm:cxn modelId="{3D897731-BFE7-45FC-8230-491DFF52E163}" srcId="{FA7DE7BC-8B68-493E-BEFE-768E57D332CC}" destId="{791A0E5C-A9C6-4414-95D8-B29A4FC13634}" srcOrd="4" destOrd="0" parTransId="{7240C87B-8EDF-4863-ACAC-BF36C051FA6F}" sibTransId="{BC7DDBFA-7FA2-4CA1-92D6-C40855DA951D}"/>
    <dgm:cxn modelId="{299E2D3B-77E5-47C8-BF68-F81C426929B2}" srcId="{31616ACD-596D-464B-9D3E-8AFCA3E79137}" destId="{FA7DE7BC-8B68-493E-BEFE-768E57D332CC}" srcOrd="0" destOrd="0" parTransId="{27E47B32-B489-472D-94C1-7DE2DE4C8CEE}" sibTransId="{81BE3B31-7EF6-45C6-A08C-66B789C7EBF5}"/>
    <dgm:cxn modelId="{4695595B-BE66-42CE-8E84-F45F540F25B1}" srcId="{FA7DE7BC-8B68-493E-BEFE-768E57D332CC}" destId="{95FF402C-C931-417E-901E-3638D5D17D14}" srcOrd="3" destOrd="0" parTransId="{0D3D62EB-3A32-4C41-8D08-9307F95B3F2C}" sibTransId="{58FF97D4-AB7E-4F23-9C82-BDD471AF4DD7}"/>
    <dgm:cxn modelId="{CD0F0E45-A256-43E4-8CB6-9BC575427D37}" type="presOf" srcId="{1F5B2C70-FAFC-4B8C-922F-1D1A877B827A}" destId="{E01F9DB3-93C5-48AB-9251-A369BB1E641E}" srcOrd="1" destOrd="0" presId="urn:microsoft.com/office/officeart/2005/8/layout/radial5"/>
    <dgm:cxn modelId="{30244547-114D-47AC-BDC6-352CE3D8CDB1}" type="presOf" srcId="{FBAAC52A-6B72-417A-B1C4-806AB6CAB298}" destId="{8136E5E7-3371-4349-9E74-A41D6B2B4BAA}" srcOrd="0" destOrd="0" presId="urn:microsoft.com/office/officeart/2005/8/layout/radial5"/>
    <dgm:cxn modelId="{FA61D572-8539-4C50-BA99-E9CC535BCA10}" type="presOf" srcId="{DDF5E70F-9307-4A1D-9F64-B515DA46E3A0}" destId="{A0990033-BF3E-4B24-9F70-FD9E18ADB113}" srcOrd="0" destOrd="0" presId="urn:microsoft.com/office/officeart/2005/8/layout/radial5"/>
    <dgm:cxn modelId="{DBBFC15A-43DA-479C-95BB-FD7241570DA4}" type="presOf" srcId="{7240C87B-8EDF-4863-ACAC-BF36C051FA6F}" destId="{B37E4B56-E77F-4EF2-BEE5-1C669D8CB363}" srcOrd="1" destOrd="0" presId="urn:microsoft.com/office/officeart/2005/8/layout/radial5"/>
    <dgm:cxn modelId="{DADAFE7C-0471-4DC3-B067-F96954431A2C}" srcId="{FA7DE7BC-8B68-493E-BEFE-768E57D332CC}" destId="{A0316388-D933-49B1-8DB1-8E8EED6286CD}" srcOrd="1" destOrd="0" parTransId="{DDF5E70F-9307-4A1D-9F64-B515DA46E3A0}" sibTransId="{69790303-5B5A-4CAA-B725-0F37CB76F77B}"/>
    <dgm:cxn modelId="{F0AAE27E-3AA0-4CA0-A75C-9F726981A176}" type="presOf" srcId="{A0316388-D933-49B1-8DB1-8E8EED6286CD}" destId="{BA0922B8-9554-4A4B-9C4E-EF21562FC308}" srcOrd="0" destOrd="0" presId="urn:microsoft.com/office/officeart/2005/8/layout/radial5"/>
    <dgm:cxn modelId="{B7015886-8831-40E1-91A9-F75A42F9B183}" type="presOf" srcId="{791A0E5C-A9C6-4414-95D8-B29A4FC13634}" destId="{02E9C220-1B2A-4FAB-89F9-B30ED918B52D}" srcOrd="0" destOrd="0" presId="urn:microsoft.com/office/officeart/2005/8/layout/radial5"/>
    <dgm:cxn modelId="{059A2693-701F-45F6-8765-F035C698465E}" type="presOf" srcId="{0D3D62EB-3A32-4C41-8D08-9307F95B3F2C}" destId="{48054491-A620-4539-B2F7-3D021DA4EF85}" srcOrd="0" destOrd="0" presId="urn:microsoft.com/office/officeart/2005/8/layout/radial5"/>
    <dgm:cxn modelId="{CB687494-E8CB-4005-9033-047AF6B1A57B}" type="presOf" srcId="{FBAAC52A-6B72-417A-B1C4-806AB6CAB298}" destId="{AF2A0251-EDAD-411B-97D6-96AFE43272CC}" srcOrd="1" destOrd="0" presId="urn:microsoft.com/office/officeart/2005/8/layout/radial5"/>
    <dgm:cxn modelId="{0CB9E7A2-CD31-4EBC-B6D9-57767F258392}" type="presOf" srcId="{FA7DE7BC-8B68-493E-BEFE-768E57D332CC}" destId="{7419C9B2-86E0-4578-A8D8-48487AAAD4F6}" srcOrd="0" destOrd="0" presId="urn:microsoft.com/office/officeart/2005/8/layout/radial5"/>
    <dgm:cxn modelId="{F2B4CEA4-89A4-442D-9390-4008244DC9D0}" type="presOf" srcId="{31616ACD-596D-464B-9D3E-8AFCA3E79137}" destId="{690DB899-2D8B-4438-97D4-C08B14D59695}" srcOrd="0" destOrd="0" presId="urn:microsoft.com/office/officeart/2005/8/layout/radial5"/>
    <dgm:cxn modelId="{533DAEBA-4106-4FD7-9587-BF84DCA6608E}" type="presOf" srcId="{94B410DA-81F2-4B9B-9C00-31E69AEC4C86}" destId="{284CE03A-2A66-46C1-BFAA-E1E6C7A9B948}" srcOrd="0" destOrd="0" presId="urn:microsoft.com/office/officeart/2005/8/layout/radial5"/>
    <dgm:cxn modelId="{E8DEFBBA-0693-44F6-A5DC-750F8E443ADF}" type="presOf" srcId="{1F5B2C70-FAFC-4B8C-922F-1D1A877B827A}" destId="{C717B715-AE63-4360-A4D3-8719E3A37A80}" srcOrd="0" destOrd="0" presId="urn:microsoft.com/office/officeart/2005/8/layout/radial5"/>
    <dgm:cxn modelId="{058656D8-E3D8-4979-90D5-0B3155C7B00A}" type="presOf" srcId="{DDF5E70F-9307-4A1D-9F64-B515DA46E3A0}" destId="{23C998AB-E490-4B83-A8B2-C4A5560D996B}" srcOrd="1" destOrd="0" presId="urn:microsoft.com/office/officeart/2005/8/layout/radial5"/>
    <dgm:cxn modelId="{78E402F1-24B0-4C9B-BCC2-DAFF6593F15C}" srcId="{FA7DE7BC-8B68-493E-BEFE-768E57D332CC}" destId="{23AE107C-1426-4335-AD06-9DBDBA30E7DA}" srcOrd="2" destOrd="0" parTransId="{1F5B2C70-FAFC-4B8C-922F-1D1A877B827A}" sibTransId="{A797ADA4-52DB-412A-96E7-88027749227D}"/>
    <dgm:cxn modelId="{92111BF1-8DB3-428B-95F5-EB722C459A5D}" type="presOf" srcId="{0D3D62EB-3A32-4C41-8D08-9307F95B3F2C}" destId="{24945E16-9DA1-496B-BE51-2A00103C99B2}" srcOrd="1" destOrd="0" presId="urn:microsoft.com/office/officeart/2005/8/layout/radial5"/>
    <dgm:cxn modelId="{FBB07022-285A-4431-8988-D2BBF9D8CE70}" type="presParOf" srcId="{690DB899-2D8B-4438-97D4-C08B14D59695}" destId="{7419C9B2-86E0-4578-A8D8-48487AAAD4F6}" srcOrd="0" destOrd="0" presId="urn:microsoft.com/office/officeart/2005/8/layout/radial5"/>
    <dgm:cxn modelId="{04BA3BD7-AB20-420F-8074-ACDA18AB7636}" type="presParOf" srcId="{690DB899-2D8B-4438-97D4-C08B14D59695}" destId="{8136E5E7-3371-4349-9E74-A41D6B2B4BAA}" srcOrd="1" destOrd="0" presId="urn:microsoft.com/office/officeart/2005/8/layout/radial5"/>
    <dgm:cxn modelId="{7A5EFFB8-0ECE-469E-B3DD-5C530643350A}" type="presParOf" srcId="{8136E5E7-3371-4349-9E74-A41D6B2B4BAA}" destId="{AF2A0251-EDAD-411B-97D6-96AFE43272CC}" srcOrd="0" destOrd="0" presId="urn:microsoft.com/office/officeart/2005/8/layout/radial5"/>
    <dgm:cxn modelId="{7FCE36FB-FADA-428E-88EC-035CF50D3CD9}" type="presParOf" srcId="{690DB899-2D8B-4438-97D4-C08B14D59695}" destId="{284CE03A-2A66-46C1-BFAA-E1E6C7A9B948}" srcOrd="2" destOrd="0" presId="urn:microsoft.com/office/officeart/2005/8/layout/radial5"/>
    <dgm:cxn modelId="{7878B840-82A6-4ADE-9457-6D2B94562F6B}" type="presParOf" srcId="{690DB899-2D8B-4438-97D4-C08B14D59695}" destId="{A0990033-BF3E-4B24-9F70-FD9E18ADB113}" srcOrd="3" destOrd="0" presId="urn:microsoft.com/office/officeart/2005/8/layout/radial5"/>
    <dgm:cxn modelId="{8481C19D-5F93-45C5-BA21-DBBF1E757183}" type="presParOf" srcId="{A0990033-BF3E-4B24-9F70-FD9E18ADB113}" destId="{23C998AB-E490-4B83-A8B2-C4A5560D996B}" srcOrd="0" destOrd="0" presId="urn:microsoft.com/office/officeart/2005/8/layout/radial5"/>
    <dgm:cxn modelId="{FFBD870A-7AC2-4E7C-BED7-4ABC9D11E7FA}" type="presParOf" srcId="{690DB899-2D8B-4438-97D4-C08B14D59695}" destId="{BA0922B8-9554-4A4B-9C4E-EF21562FC308}" srcOrd="4" destOrd="0" presId="urn:microsoft.com/office/officeart/2005/8/layout/radial5"/>
    <dgm:cxn modelId="{9B456998-7952-4DF9-A92E-8E2DBB0A4D02}" type="presParOf" srcId="{690DB899-2D8B-4438-97D4-C08B14D59695}" destId="{C717B715-AE63-4360-A4D3-8719E3A37A80}" srcOrd="5" destOrd="0" presId="urn:microsoft.com/office/officeart/2005/8/layout/radial5"/>
    <dgm:cxn modelId="{6132AEC6-E233-4E3B-A35F-0B0CAF5B6732}" type="presParOf" srcId="{C717B715-AE63-4360-A4D3-8719E3A37A80}" destId="{E01F9DB3-93C5-48AB-9251-A369BB1E641E}" srcOrd="0" destOrd="0" presId="urn:microsoft.com/office/officeart/2005/8/layout/radial5"/>
    <dgm:cxn modelId="{D7F3B40E-FE89-4A61-924C-F8734F811B1C}" type="presParOf" srcId="{690DB899-2D8B-4438-97D4-C08B14D59695}" destId="{9E6D1ACB-AF77-4433-BBCE-D9ACA6728B0C}" srcOrd="6" destOrd="0" presId="urn:microsoft.com/office/officeart/2005/8/layout/radial5"/>
    <dgm:cxn modelId="{3F43F59A-1B02-4FA0-A710-B40CEC6CB9EA}" type="presParOf" srcId="{690DB899-2D8B-4438-97D4-C08B14D59695}" destId="{48054491-A620-4539-B2F7-3D021DA4EF85}" srcOrd="7" destOrd="0" presId="urn:microsoft.com/office/officeart/2005/8/layout/radial5"/>
    <dgm:cxn modelId="{02C1109D-9D5A-4EB9-9897-AA5B8B0AF44B}" type="presParOf" srcId="{48054491-A620-4539-B2F7-3D021DA4EF85}" destId="{24945E16-9DA1-496B-BE51-2A00103C99B2}" srcOrd="0" destOrd="0" presId="urn:microsoft.com/office/officeart/2005/8/layout/radial5"/>
    <dgm:cxn modelId="{F408C3E8-0688-4F54-9E9E-C4290DC59086}" type="presParOf" srcId="{690DB899-2D8B-4438-97D4-C08B14D59695}" destId="{791F2086-5BDF-4682-9DB6-E6BE7A69A6D2}" srcOrd="8" destOrd="0" presId="urn:microsoft.com/office/officeart/2005/8/layout/radial5"/>
    <dgm:cxn modelId="{989E668A-3A8F-4969-AE68-13A0A0F264DF}" type="presParOf" srcId="{690DB899-2D8B-4438-97D4-C08B14D59695}" destId="{17175EBD-172F-49B0-AA26-7A8D966CCA95}" srcOrd="9" destOrd="0" presId="urn:microsoft.com/office/officeart/2005/8/layout/radial5"/>
    <dgm:cxn modelId="{7FD373E0-604F-4DC5-8F0A-19DCB13A97E1}" type="presParOf" srcId="{17175EBD-172F-49B0-AA26-7A8D966CCA95}" destId="{B37E4B56-E77F-4EF2-BEE5-1C669D8CB363}" srcOrd="0" destOrd="0" presId="urn:microsoft.com/office/officeart/2005/8/layout/radial5"/>
    <dgm:cxn modelId="{931CF554-B280-4E0D-80D8-15B0D111E8A8}" type="presParOf" srcId="{690DB899-2D8B-4438-97D4-C08B14D59695}" destId="{02E9C220-1B2A-4FAB-89F9-B30ED918B52D}" srcOrd="10" destOrd="0" presId="urn:microsoft.com/office/officeart/2005/8/layout/radial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9C3E6-71D2-4CC9-ADBE-12E939F4DC41}">
      <dsp:nvSpPr>
        <dsp:cNvPr id="0" name=""/>
        <dsp:cNvSpPr/>
      </dsp:nvSpPr>
      <dsp:spPr>
        <a:xfrm>
          <a:off x="2336492" y="1220390"/>
          <a:ext cx="304218" cy="579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109" y="0"/>
              </a:lnTo>
              <a:lnTo>
                <a:pt x="152109" y="579685"/>
              </a:lnTo>
              <a:lnTo>
                <a:pt x="304218" y="5796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72235" y="1493866"/>
        <a:ext cx="32733" cy="32733"/>
      </dsp:txXfrm>
    </dsp:sp>
    <dsp:sp modelId="{C1172FD3-29D0-4AFD-B196-02A873DD9ECE}">
      <dsp:nvSpPr>
        <dsp:cNvPr id="0" name=""/>
        <dsp:cNvSpPr/>
      </dsp:nvSpPr>
      <dsp:spPr>
        <a:xfrm>
          <a:off x="2336492" y="1174670"/>
          <a:ext cx="3042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4218" y="457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80996" y="1212785"/>
        <a:ext cx="15210" cy="15210"/>
      </dsp:txXfrm>
    </dsp:sp>
    <dsp:sp modelId="{427EA28B-121D-448F-873D-40F31E237E4E}">
      <dsp:nvSpPr>
        <dsp:cNvPr id="0" name=""/>
        <dsp:cNvSpPr/>
      </dsp:nvSpPr>
      <dsp:spPr>
        <a:xfrm>
          <a:off x="2336492" y="640705"/>
          <a:ext cx="304218" cy="579685"/>
        </a:xfrm>
        <a:custGeom>
          <a:avLst/>
          <a:gdLst/>
          <a:ahLst/>
          <a:cxnLst/>
          <a:rect l="0" t="0" r="0" b="0"/>
          <a:pathLst>
            <a:path>
              <a:moveTo>
                <a:pt x="0" y="579685"/>
              </a:moveTo>
              <a:lnTo>
                <a:pt x="152109" y="579685"/>
              </a:lnTo>
              <a:lnTo>
                <a:pt x="152109" y="0"/>
              </a:lnTo>
              <a:lnTo>
                <a:pt x="30421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72235" y="914181"/>
        <a:ext cx="32733" cy="32733"/>
      </dsp:txXfrm>
    </dsp:sp>
    <dsp:sp modelId="{2AA566A7-C102-45BF-961F-22257CD60E3F}">
      <dsp:nvSpPr>
        <dsp:cNvPr id="0" name=""/>
        <dsp:cNvSpPr/>
      </dsp:nvSpPr>
      <dsp:spPr>
        <a:xfrm rot="16200000">
          <a:off x="1267576" y="988516"/>
          <a:ext cx="1674082" cy="4637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Application</a:t>
          </a:r>
        </a:p>
      </dsp:txBody>
      <dsp:txXfrm>
        <a:off x="1267576" y="988516"/>
        <a:ext cx="1674082" cy="463748"/>
      </dsp:txXfrm>
    </dsp:sp>
    <dsp:sp modelId="{701B5203-46FE-41AE-8325-51B52A647B00}">
      <dsp:nvSpPr>
        <dsp:cNvPr id="0" name=""/>
        <dsp:cNvSpPr/>
      </dsp:nvSpPr>
      <dsp:spPr>
        <a:xfrm>
          <a:off x="2640711" y="408830"/>
          <a:ext cx="1521094" cy="4637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Filtration </a:t>
          </a:r>
        </a:p>
      </dsp:txBody>
      <dsp:txXfrm>
        <a:off x="2640711" y="408830"/>
        <a:ext cx="1521094" cy="463748"/>
      </dsp:txXfrm>
    </dsp:sp>
    <dsp:sp modelId="{922F3183-FE61-46C6-BAF8-4595BF015CD2}">
      <dsp:nvSpPr>
        <dsp:cNvPr id="0" name=""/>
        <dsp:cNvSpPr/>
      </dsp:nvSpPr>
      <dsp:spPr>
        <a:xfrm>
          <a:off x="2640711" y="988516"/>
          <a:ext cx="1521094" cy="4637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Adsorption</a:t>
          </a:r>
        </a:p>
      </dsp:txBody>
      <dsp:txXfrm>
        <a:off x="2640711" y="988516"/>
        <a:ext cx="1521094" cy="463748"/>
      </dsp:txXfrm>
    </dsp:sp>
    <dsp:sp modelId="{ED1CE0C1-072B-4434-97FC-309924951E4F}">
      <dsp:nvSpPr>
        <dsp:cNvPr id="0" name=""/>
        <dsp:cNvSpPr/>
      </dsp:nvSpPr>
      <dsp:spPr>
        <a:xfrm>
          <a:off x="2640711" y="1568201"/>
          <a:ext cx="1521094" cy="4637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Catalyse</a:t>
          </a:r>
        </a:p>
      </dsp:txBody>
      <dsp:txXfrm>
        <a:off x="2640711" y="1568201"/>
        <a:ext cx="1521094" cy="4637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9C9B2-86E0-4578-A8D8-48487AAAD4F6}">
      <dsp:nvSpPr>
        <dsp:cNvPr id="0" name=""/>
        <dsp:cNvSpPr/>
      </dsp:nvSpPr>
      <dsp:spPr>
        <a:xfrm>
          <a:off x="2259689" y="1637489"/>
          <a:ext cx="1167679" cy="11676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Technique d’analyses </a:t>
          </a:r>
        </a:p>
      </dsp:txBody>
      <dsp:txXfrm>
        <a:off x="2430692" y="1808492"/>
        <a:ext cx="825673" cy="825673"/>
      </dsp:txXfrm>
    </dsp:sp>
    <dsp:sp modelId="{8136E5E7-3371-4349-9E74-A41D6B2B4BAA}">
      <dsp:nvSpPr>
        <dsp:cNvPr id="0" name=""/>
        <dsp:cNvSpPr/>
      </dsp:nvSpPr>
      <dsp:spPr>
        <a:xfrm rot="16200000">
          <a:off x="2719755" y="1212455"/>
          <a:ext cx="247546" cy="3970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2756887" y="1328989"/>
        <a:ext cx="173282" cy="238207"/>
      </dsp:txXfrm>
    </dsp:sp>
    <dsp:sp modelId="{284CE03A-2A66-46C1-BFAA-E1E6C7A9B948}">
      <dsp:nvSpPr>
        <dsp:cNvPr id="0" name=""/>
        <dsp:cNvSpPr/>
      </dsp:nvSpPr>
      <dsp:spPr>
        <a:xfrm>
          <a:off x="2259689" y="2740"/>
          <a:ext cx="1167679" cy="11676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DRX</a:t>
          </a:r>
        </a:p>
      </dsp:txBody>
      <dsp:txXfrm>
        <a:off x="2430692" y="173743"/>
        <a:ext cx="825673" cy="825673"/>
      </dsp:txXfrm>
    </dsp:sp>
    <dsp:sp modelId="{A0990033-BF3E-4B24-9F70-FD9E18ADB113}">
      <dsp:nvSpPr>
        <dsp:cNvPr id="0" name=""/>
        <dsp:cNvSpPr/>
      </dsp:nvSpPr>
      <dsp:spPr>
        <a:xfrm rot="20520000">
          <a:off x="3490461" y="1772405"/>
          <a:ext cx="247546" cy="3970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492278" y="1863281"/>
        <a:ext cx="173282" cy="238207"/>
      </dsp:txXfrm>
    </dsp:sp>
    <dsp:sp modelId="{BA0922B8-9554-4A4B-9C4E-EF21562FC308}">
      <dsp:nvSpPr>
        <dsp:cNvPr id="0" name=""/>
        <dsp:cNvSpPr/>
      </dsp:nvSpPr>
      <dsp:spPr>
        <a:xfrm>
          <a:off x="3814427" y="1132324"/>
          <a:ext cx="1167679" cy="11676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MEB-EDS</a:t>
          </a:r>
        </a:p>
      </dsp:txBody>
      <dsp:txXfrm>
        <a:off x="3985430" y="1303327"/>
        <a:ext cx="825673" cy="825673"/>
      </dsp:txXfrm>
    </dsp:sp>
    <dsp:sp modelId="{C717B715-AE63-4360-A4D3-8719E3A37A80}">
      <dsp:nvSpPr>
        <dsp:cNvPr id="0" name=""/>
        <dsp:cNvSpPr/>
      </dsp:nvSpPr>
      <dsp:spPr>
        <a:xfrm rot="3240000">
          <a:off x="3196078" y="2678425"/>
          <a:ext cx="247546" cy="3970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211384" y="2727787"/>
        <a:ext cx="173282" cy="238207"/>
      </dsp:txXfrm>
    </dsp:sp>
    <dsp:sp modelId="{9E6D1ACB-AF77-4433-BBCE-D9ACA6728B0C}">
      <dsp:nvSpPr>
        <dsp:cNvPr id="0" name=""/>
        <dsp:cNvSpPr/>
      </dsp:nvSpPr>
      <dsp:spPr>
        <a:xfrm>
          <a:off x="3220570" y="2960028"/>
          <a:ext cx="1167679" cy="11676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ATG-DTG</a:t>
          </a:r>
        </a:p>
      </dsp:txBody>
      <dsp:txXfrm>
        <a:off x="3391573" y="3131031"/>
        <a:ext cx="825673" cy="825673"/>
      </dsp:txXfrm>
    </dsp:sp>
    <dsp:sp modelId="{48054491-A620-4539-B2F7-3D021DA4EF85}">
      <dsp:nvSpPr>
        <dsp:cNvPr id="0" name=""/>
        <dsp:cNvSpPr/>
      </dsp:nvSpPr>
      <dsp:spPr>
        <a:xfrm rot="7560000">
          <a:off x="2243433" y="2678425"/>
          <a:ext cx="247546" cy="3970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302391" y="2727787"/>
        <a:ext cx="173282" cy="238207"/>
      </dsp:txXfrm>
    </dsp:sp>
    <dsp:sp modelId="{791F2086-5BDF-4682-9DB6-E6BE7A69A6D2}">
      <dsp:nvSpPr>
        <dsp:cNvPr id="0" name=""/>
        <dsp:cNvSpPr/>
      </dsp:nvSpPr>
      <dsp:spPr>
        <a:xfrm>
          <a:off x="1298808" y="2960028"/>
          <a:ext cx="1167679" cy="11676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TPD</a:t>
          </a:r>
        </a:p>
      </dsp:txBody>
      <dsp:txXfrm>
        <a:off x="1469811" y="3131031"/>
        <a:ext cx="825673" cy="825673"/>
      </dsp:txXfrm>
    </dsp:sp>
    <dsp:sp modelId="{17175EBD-172F-49B0-AA26-7A8D966CCA95}">
      <dsp:nvSpPr>
        <dsp:cNvPr id="0" name=""/>
        <dsp:cNvSpPr/>
      </dsp:nvSpPr>
      <dsp:spPr>
        <a:xfrm rot="11880000">
          <a:off x="1949049" y="1772405"/>
          <a:ext cx="247546" cy="3970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21496" y="1863281"/>
        <a:ext cx="173282" cy="238207"/>
      </dsp:txXfrm>
    </dsp:sp>
    <dsp:sp modelId="{02E9C220-1B2A-4FAB-89F9-B30ED918B52D}">
      <dsp:nvSpPr>
        <dsp:cNvPr id="0" name=""/>
        <dsp:cNvSpPr/>
      </dsp:nvSpPr>
      <dsp:spPr>
        <a:xfrm>
          <a:off x="704950" y="1132324"/>
          <a:ext cx="1167679" cy="11676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FTIR in situ</a:t>
          </a:r>
        </a:p>
      </dsp:txBody>
      <dsp:txXfrm>
        <a:off x="875953" y="1303327"/>
        <a:ext cx="825673" cy="8256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2A161-5BFA-440A-B939-2ED448D1D747}" type="datetimeFigureOut">
              <a:rPr lang="fr-FR" smtClean="0"/>
              <a:t>30/06/2025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F142E-9D9A-4E9C-A900-41F29708C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05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30F0D-1A5A-4EA2-B28F-0EC912CB6B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166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F142E-9D9A-4E9C-A900-41F29708C3D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588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Plusieurs échantillons de </a:t>
            </a:r>
            <a:r>
              <a:rPr lang="fr-FR" dirty="0" err="1"/>
              <a:t>nanozéolithes</a:t>
            </a:r>
            <a:r>
              <a:rPr lang="fr-FR" dirty="0"/>
              <a:t> RUT ont été synthétisés en faisant décroître le rapport molaire Si/Al.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F142E-9D9A-4E9C-A900-41F29708C3D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419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700" b="1" i="1" u="non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B083CC-30ED-4363-BE82-100C624BCB7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Ecole Nationale Supérieure des Mines de Rabat.</a:t>
            </a:r>
          </a:p>
        </p:txBody>
      </p:sp>
    </p:spTree>
    <p:extLst>
      <p:ext uri="{BB962C8B-B14F-4D97-AF65-F5344CB8AC3E}">
        <p14:creationId xmlns:p14="http://schemas.microsoft.com/office/powerpoint/2010/main" val="1719803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52DA3A-365E-C256-F421-86DF00C97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0B91E2-49DD-245B-173C-D50A75BD0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418045-31E6-80B8-593B-19296441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80F9-A989-419A-9436-FA44F1BA6974}" type="datetime1">
              <a:rPr lang="fr-FR" smtClean="0"/>
              <a:t>30/06/2025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7E6F73-8F41-4B3D-AEAE-BE725C35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D4D08C-842F-9BE9-2FD0-CDC569BF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81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A8E154-A342-8B12-5A74-697F8490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946BBE-49E1-9177-8CA3-F6334D7A4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34472A-0349-4EBD-3DF1-21DF05AF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E380-1277-40E5-A016-6935461EA86B}" type="datetime1">
              <a:rPr lang="fr-FR" smtClean="0"/>
              <a:t>30/06/2025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B4F646-F167-E3AD-4023-E5DE4FB1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5F1C37-6D14-FE0F-516C-54E5D7A1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8321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DDF7B6-BB70-906A-85C7-D5B0518E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0E64ED-1BEF-D134-EFEC-2078EE341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0E45A9-6A26-4682-7EFB-FDEC9A1B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930-A844-405F-BB6E-1642742F90DA}" type="datetime1">
              <a:rPr lang="fr-FR" smtClean="0"/>
              <a:t>30/06/2025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E04C61-7E62-5F7F-77A9-A46023D9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D53153-F042-5634-2479-A73F8BB5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62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C7D11F-585A-1310-EA35-093F8C11C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114642-D2BD-3A46-225F-4C6D265D5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E3C45B-1B3F-9DE7-0697-821B6AADF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A750A5-F9D6-A276-87D6-C66A2A851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0EB-3A1A-4B4E-9B3D-AB7F2F1768B5}" type="datetime1">
              <a:rPr lang="fr-FR" smtClean="0"/>
              <a:t>30/06/2025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47B058-A25E-7A77-D346-23E24935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9FDE00-673F-E35D-1F89-930749D8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72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8C7956-A8A0-046B-F2E5-91ACF7C9D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046EBF-4EA8-E4DB-EB91-47FB3AEE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FE7145-1E92-4DE1-5032-AEC9AB9DE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FCE2B19-AF51-FACD-2283-6B518B6D4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A7A40B2-268D-7491-C584-BA573A19E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C2152D-4968-59DD-A718-AB8A294B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8771-6FE3-4CF6-BF89-AD685B0C5EB0}" type="datetime1">
              <a:rPr lang="fr-FR" smtClean="0"/>
              <a:t>30/06/2025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3607297-3113-1672-9E10-C62FD2C1F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1392DCC-E795-38AE-E2CB-B55A8B61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13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0E749-C980-CFAA-E009-BE10E1CD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26B5DE-6FE3-94BE-05B5-DCC36272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374A-D838-4A6B-8363-7B1317C95EBF}" type="datetime1">
              <a:rPr lang="fr-FR" smtClean="0"/>
              <a:t>30/06/2025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D92168-1594-A10C-788B-ABAD9064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56A56D-2929-278B-4321-766DB1D2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46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7DFEF42-6065-696E-5336-E2E5295E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1DE5-7345-4652-B70D-1A292A3A991C}" type="datetime1">
              <a:rPr lang="fr-FR" smtClean="0"/>
              <a:t>30/06/2025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A974E-C4CE-592E-CAD9-0829DD51E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1A541C-A12C-72A0-FDAE-6F11F38B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57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BBA357-EDB4-2B49-CF3E-D680CA27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13EFEB-B6EE-2B31-CB3A-955E245A9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4787A2-7735-1A92-CBFA-A554180C9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B4AB55-3926-313F-E036-53ABA6DB4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8383-E23C-49C8-B07F-9601186D7E33}" type="datetime1">
              <a:rPr lang="fr-FR" smtClean="0"/>
              <a:t>30/06/2025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CD7FC6-F98D-178F-E909-D62B7AB87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DF1618-CFB2-E11D-25C6-CBFD264D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09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5744CC-248E-469D-1A84-7ED06B83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3E376BA-FDD0-1F6E-F5A1-9C01D818D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5788F4-F965-0657-C162-1C56997F9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D07F34-5912-444A-CCF7-C480A9E7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C2CF-2584-4B25-A9F0-DFEF2CF06E31}" type="datetime1">
              <a:rPr lang="fr-FR" smtClean="0"/>
              <a:t>30/06/2025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5B9772-E2A3-16C3-5610-1F010A97D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0BDFA1-F960-1D11-65E5-984AD57A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594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78A662-9B68-AC86-B69E-D8EA84EF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C77576-0888-D387-067E-9057757D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D1C1C9-6430-FB1E-49F9-22792464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BD4-5DF8-49DC-91AE-4B33DDBAEF41}" type="datetime1">
              <a:rPr lang="fr-FR" smtClean="0"/>
              <a:t>30/06/2025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CD7E52-5727-FE74-C2E4-DE7DCF8A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D547C9-1FBE-D86F-D427-7D5F4330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100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73D12EF-47B0-D06C-6676-9B2E0A08E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A81159-1A0B-1A51-B562-4425503A4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94699A-B5E0-C632-D74A-8199EC99B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9D12B-0E47-4501-BEFD-69EA880DA9DD}" type="datetime1">
              <a:rPr lang="fr-FR" smtClean="0"/>
              <a:t>30/06/2025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7BCB48-915F-D66C-0AB1-7E0228E2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441709-C618-9627-D3A8-DBAB588B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676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CFC00-51A7-41F6-9249-883E54100FF8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1193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94FB-A546-4159-B1E5-2FB4A3B9808A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1715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41E-E474-40B7-8923-C253E791AD37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386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ED66-E338-4755-9979-7A408294FDB4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37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45F2A-C83A-4046-AE34-8EB617B3D5B5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27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FE1C4-E404-4E7E-8304-9E530103AFC0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2826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8877-91B4-4BDD-93F5-8688DA023325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393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C5EF-0E1F-4328-91C6-6D1C9543F511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2278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C2F4-4B7A-4D96-AB35-26BF759D470B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00543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4BE2B-7515-404E-AE0B-6A3104859771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9005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118F-F36A-4D2A-BFD4-4367BD55FC14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431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9FF8565-4A3A-D63D-9FC0-8E5224AB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13A5B6-2074-B11F-7A52-034770302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2CF7D4-9351-020E-DB2C-B8F652FBD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0DFE4-92AA-434D-A6AA-889188BEEB5E}" type="datetime1">
              <a:rPr lang="fr-FR" smtClean="0"/>
              <a:t>30/06/2025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F39B12-D484-FCD9-2373-6D8E89623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100308-77E2-C7F5-698A-717D7817D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6AC85-3EAD-46BE-A9E5-2208FFB58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069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DD9A96EA-5A7A-4E0D-B73F-68D3114B13B7}" type="datetime1">
              <a:rPr lang="fr-FR" smtClean="0"/>
              <a:t>30/06/2025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6D9900A-6A7E-4FE2-9956-6F4694762F12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79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22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26.jpeg"/><Relationship Id="rId5" Type="http://schemas.openxmlformats.org/officeDocument/2006/relationships/diagramColors" Target="../diagrams/colors2.xml"/><Relationship Id="rId10" Type="http://schemas.openxmlformats.org/officeDocument/2006/relationships/image" Target="../media/image25.jpe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ous-titre 5">
            <a:extLst>
              <a:ext uri="{FF2B5EF4-FFF2-40B4-BE49-F238E27FC236}">
                <a16:creationId xmlns:a16="http://schemas.microsoft.com/office/drawing/2014/main" id="{8CB9C0AD-9EA3-E609-95E1-B5182B3FE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764" y="2825779"/>
            <a:ext cx="11570472" cy="1244211"/>
          </a:xfrm>
          <a:solidFill>
            <a:srgbClr val="98AF9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39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Synthèse de zéolithes de taille nanométrique pour la capture du CO₂ </a:t>
            </a:r>
            <a:endParaRPr lang="fr-FR" sz="39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7" name="Image 6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F7323C9E-7741-9149-89DA-694D31ABEE8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685613" cy="1508456"/>
          </a:xfrm>
          <a:prstGeom prst="rect">
            <a:avLst/>
          </a:prstGeom>
        </p:spPr>
      </p:pic>
      <p:pic>
        <p:nvPicPr>
          <p:cNvPr id="8" name="Image 7" descr="Une image contenant capture d’écran, Police, noir, Graphique&#10;&#10;Le contenu généré par l’IA peut être incorrect.">
            <a:extLst>
              <a:ext uri="{FF2B5EF4-FFF2-40B4-BE49-F238E27FC236}">
                <a16:creationId xmlns:a16="http://schemas.microsoft.com/office/drawing/2014/main" id="{D15F612D-D53C-1712-5D95-43B8F064B5E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22642" y="0"/>
            <a:ext cx="2237251" cy="124421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89133C8-4C89-5DC5-658C-ABF16A746509}"/>
              </a:ext>
            </a:extLst>
          </p:cNvPr>
          <p:cNvSpPr txBox="1"/>
          <p:nvPr/>
        </p:nvSpPr>
        <p:spPr>
          <a:xfrm>
            <a:off x="3046771" y="1837502"/>
            <a:ext cx="6093500" cy="814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Année</a:t>
            </a:r>
            <a:r>
              <a:rPr lang="fr-FR" sz="1800" i="1" kern="100" spc="-7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scolaire</a:t>
            </a:r>
            <a:r>
              <a:rPr lang="fr-FR" sz="1800" i="1" kern="100" spc="-7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: </a:t>
            </a: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2024-2025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Master de Chimie analytique et environnement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32ADC-7BFB-D44E-8BA6-B1E56183D13B}"/>
              </a:ext>
            </a:extLst>
          </p:cNvPr>
          <p:cNvSpPr txBox="1"/>
          <p:nvPr/>
        </p:nvSpPr>
        <p:spPr>
          <a:xfrm>
            <a:off x="3046771" y="4155137"/>
            <a:ext cx="6098458" cy="847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Soutenu le 01 juillet 2025 par :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fr-FR" sz="20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AIT ABDELLAH ABDELHAY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E646727-4229-DB1C-5432-1D03E9267411}"/>
              </a:ext>
            </a:extLst>
          </p:cNvPr>
          <p:cNvSpPr txBox="1"/>
          <p:nvPr/>
        </p:nvSpPr>
        <p:spPr>
          <a:xfrm>
            <a:off x="315155" y="5266976"/>
            <a:ext cx="3557504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Encadrée par : 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Mr Mathias Barreau </a:t>
            </a: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Mme Fatim </a:t>
            </a:r>
            <a:r>
              <a:rPr lang="fr-FR" kern="1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ezzahra</a:t>
            </a:r>
            <a:r>
              <a:rPr lang="fr-F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kern="1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Merfouk</a:t>
            </a:r>
            <a:endParaRPr lang="fr-FR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6F6B414-25E3-55AC-39FD-07D7D8546E6F}"/>
              </a:ext>
            </a:extLst>
          </p:cNvPr>
          <p:cNvSpPr txBox="1"/>
          <p:nvPr/>
        </p:nvSpPr>
        <p:spPr>
          <a:xfrm>
            <a:off x="7980952" y="5087824"/>
            <a:ext cx="3000040" cy="144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Jury :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Mr Edwin </a:t>
            </a:r>
            <a:r>
              <a:rPr lang="fr-FR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Clatworthy</a:t>
            </a: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Mme Thomas Karine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Mme A</a:t>
            </a:r>
            <a:r>
              <a:rPr lang="fr-F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urélie Vicente</a:t>
            </a:r>
            <a:endParaRPr lang="fr-FR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6D477228-F0D6-A2C5-DFF3-3B9F95E5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75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0">
            <a:extLst>
              <a:ext uri="{FF2B5EF4-FFF2-40B4-BE49-F238E27FC236}">
                <a16:creationId xmlns:a16="http://schemas.microsoft.com/office/drawing/2014/main" id="{19E5A48C-0A05-90AB-55D1-2B5AC2978AD1}"/>
              </a:ext>
            </a:extLst>
          </p:cNvPr>
          <p:cNvSpPr>
            <a:spLocks/>
          </p:cNvSpPr>
          <p:nvPr/>
        </p:nvSpPr>
        <p:spPr bwMode="auto">
          <a:xfrm rot="5400000" flipH="1">
            <a:off x="-2862893" y="2730422"/>
            <a:ext cx="7040080" cy="1332100"/>
          </a:xfrm>
          <a:prstGeom prst="roundRect">
            <a:avLst>
              <a:gd name="adj" fmla="val 11886"/>
            </a:avLst>
          </a:prstGeom>
          <a:gradFill flip="none" rotWithShape="1">
            <a:gsLst>
              <a:gs pos="42000">
                <a:srgbClr val="8AA58B"/>
              </a:gs>
              <a:gs pos="8000">
                <a:schemeClr val="accent3">
                  <a:lumMod val="0"/>
                  <a:lumOff val="100000"/>
                </a:schemeClr>
              </a:gs>
              <a:gs pos="100000">
                <a:srgbClr val="8AA58B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AA58B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cxnSp>
        <p:nvCxnSpPr>
          <p:cNvPr id="80" name="直接连接符 79"/>
          <p:cNvCxnSpPr>
            <a:cxnSpLocks/>
          </p:cNvCxnSpPr>
          <p:nvPr/>
        </p:nvCxnSpPr>
        <p:spPr>
          <a:xfrm>
            <a:off x="3804307" y="153000"/>
            <a:ext cx="1" cy="6552000"/>
          </a:xfrm>
          <a:prstGeom prst="line">
            <a:avLst/>
          </a:prstGeom>
          <a:ln w="19050">
            <a:solidFill>
              <a:schemeClr val="accent3">
                <a:lumMod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06847" y="743998"/>
            <a:ext cx="1031043" cy="451988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PLAN</a:t>
            </a:r>
            <a:endParaRPr kumimoji="0" lang="zh-CN" altLang="en-US" sz="5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圆角矩形 72"/>
          <p:cNvSpPr/>
          <p:nvPr/>
        </p:nvSpPr>
        <p:spPr>
          <a:xfrm rot="10800000" flipV="1">
            <a:off x="3562165" y="1598028"/>
            <a:ext cx="484287" cy="491115"/>
          </a:xfrm>
          <a:prstGeom prst="roundRect">
            <a:avLst>
              <a:gd name="adj" fmla="val 5039"/>
            </a:avLst>
          </a:prstGeom>
          <a:solidFill>
            <a:srgbClr val="8AA58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3563095" y="286896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8AA58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圆角矩形 76"/>
          <p:cNvSpPr/>
          <p:nvPr/>
        </p:nvSpPr>
        <p:spPr>
          <a:xfrm rot="10800000" flipV="1">
            <a:off x="3563095" y="413896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8AA58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363376" y="278335"/>
            <a:ext cx="2324667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Introduction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232098" y="4156304"/>
            <a:ext cx="4827904" cy="58477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Résultats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et Discussion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363376" y="2868964"/>
            <a:ext cx="4190967" cy="58477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Matériels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et </a:t>
            </a:r>
            <a:r>
              <a:rPr kumimoji="0" lang="fr-FR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méthodes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4363376" y="5386757"/>
            <a:ext cx="2417641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Conclusion</a:t>
            </a:r>
            <a:r>
              <a:rPr kumimoji="0" lang="fr-MA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Imagen 34" descr="Forma, Icono&#10;&#10;Descripción generada automáticamente">
            <a:extLst>
              <a:ext uri="{FF2B5EF4-FFF2-40B4-BE49-F238E27FC236}">
                <a16:creationId xmlns:a16="http://schemas.microsoft.com/office/drawing/2014/main" id="{0CDA7232-293F-7A63-A8F1-01EA007730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706" y="72824"/>
            <a:ext cx="948187" cy="804827"/>
          </a:xfrm>
          <a:prstGeom prst="rect">
            <a:avLst/>
          </a:prstGeom>
        </p:spPr>
      </p:pic>
      <p:grpSp>
        <p:nvGrpSpPr>
          <p:cNvPr id="22" name="组合 60">
            <a:extLst>
              <a:ext uri="{FF2B5EF4-FFF2-40B4-BE49-F238E27FC236}">
                <a16:creationId xmlns:a16="http://schemas.microsoft.com/office/drawing/2014/main" id="{3FC3DFEF-F1D6-9610-A138-D8FDA0B15ACA}"/>
              </a:ext>
            </a:extLst>
          </p:cNvPr>
          <p:cNvGrpSpPr/>
          <p:nvPr/>
        </p:nvGrpSpPr>
        <p:grpSpPr>
          <a:xfrm rot="5400000">
            <a:off x="11670850" y="298052"/>
            <a:ext cx="816149" cy="220045"/>
            <a:chOff x="6507038" y="462976"/>
            <a:chExt cx="2430800" cy="471380"/>
          </a:xfrm>
        </p:grpSpPr>
        <p:grpSp>
          <p:nvGrpSpPr>
            <p:cNvPr id="23" name="组合 61">
              <a:extLst>
                <a:ext uri="{FF2B5EF4-FFF2-40B4-BE49-F238E27FC236}">
                  <a16:creationId xmlns:a16="http://schemas.microsoft.com/office/drawing/2014/main" id="{D1958FEE-4FE5-5BBF-517E-D5C572A74E69}"/>
                </a:ext>
              </a:extLst>
            </p:cNvPr>
            <p:cNvGrpSpPr/>
            <p:nvPr/>
          </p:nvGrpSpPr>
          <p:grpSpPr>
            <a:xfrm flipV="1">
              <a:off x="6507038" y="462976"/>
              <a:ext cx="1917437" cy="471380"/>
              <a:chOff x="810775" y="1533962"/>
              <a:chExt cx="7782381" cy="1913211"/>
            </a:xfrm>
          </p:grpSpPr>
          <p:sp>
            <p:nvSpPr>
              <p:cNvPr id="25" name="圆角矩形 63">
                <a:extLst>
                  <a:ext uri="{FF2B5EF4-FFF2-40B4-BE49-F238E27FC236}">
                    <a16:creationId xmlns:a16="http://schemas.microsoft.com/office/drawing/2014/main" id="{F453B95E-65E6-E565-12D6-24CF895B15D7}"/>
                  </a:ext>
                </a:extLst>
              </p:cNvPr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rgbClr val="8BA599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6" name="圆角矩形 64">
                <a:extLst>
                  <a:ext uri="{FF2B5EF4-FFF2-40B4-BE49-F238E27FC236}">
                    <a16:creationId xmlns:a16="http://schemas.microsoft.com/office/drawing/2014/main" id="{BA97788E-B56B-0592-3CAC-33FCAF1D4A04}"/>
                  </a:ext>
                </a:extLst>
              </p:cNvPr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rgbClr val="61979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7" name="圆角矩形 65">
                <a:extLst>
                  <a:ext uri="{FF2B5EF4-FFF2-40B4-BE49-F238E27FC236}">
                    <a16:creationId xmlns:a16="http://schemas.microsoft.com/office/drawing/2014/main" id="{B22A256A-F826-F0DA-8D1A-35006ED68610}"/>
                  </a:ext>
                </a:extLst>
              </p:cNvPr>
              <p:cNvSpPr/>
              <p:nvPr/>
            </p:nvSpPr>
            <p:spPr>
              <a:xfrm>
                <a:off x="6826697" y="1533967"/>
                <a:ext cx="1766459" cy="1913206"/>
              </a:xfrm>
              <a:prstGeom prst="roundRect">
                <a:avLst>
                  <a:gd name="adj" fmla="val 5039"/>
                </a:avLst>
              </a:prstGeom>
              <a:solidFill>
                <a:srgbClr val="8BA599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圆角矩形 66">
                <a:extLst>
                  <a:ext uri="{FF2B5EF4-FFF2-40B4-BE49-F238E27FC236}">
                    <a16:creationId xmlns:a16="http://schemas.microsoft.com/office/drawing/2014/main" id="{6792C4CB-D7CC-98B7-62EC-5A90F16447A5}"/>
                  </a:ext>
                </a:extLst>
              </p:cNvPr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rgbClr val="61979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4" name="圆角矩形 62">
              <a:extLst>
                <a:ext uri="{FF2B5EF4-FFF2-40B4-BE49-F238E27FC236}">
                  <a16:creationId xmlns:a16="http://schemas.microsoft.com/office/drawing/2014/main" id="{52E8D12B-13EC-97C2-5542-12534AE0F878}"/>
                </a:ext>
              </a:extLst>
            </p:cNvPr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rgbClr val="61979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2" name="圆角矩形 74"/>
          <p:cNvSpPr/>
          <p:nvPr/>
        </p:nvSpPr>
        <p:spPr>
          <a:xfrm rot="10800000" flipV="1">
            <a:off x="3562162" y="543358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8AA58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圆角矩形 72">
            <a:extLst>
              <a:ext uri="{FF2B5EF4-FFF2-40B4-BE49-F238E27FC236}">
                <a16:creationId xmlns:a16="http://schemas.microsoft.com/office/drawing/2014/main" id="{4EC465EF-44EC-4309-BE67-8B3F5AEF099A}"/>
              </a:ext>
            </a:extLst>
          </p:cNvPr>
          <p:cNvSpPr/>
          <p:nvPr/>
        </p:nvSpPr>
        <p:spPr>
          <a:xfrm rot="10800000" flipV="1">
            <a:off x="3562163" y="330936"/>
            <a:ext cx="484287" cy="491115"/>
          </a:xfrm>
          <a:prstGeom prst="roundRect">
            <a:avLst>
              <a:gd name="adj" fmla="val 5039"/>
            </a:avLst>
          </a:prstGeom>
          <a:solidFill>
            <a:srgbClr val="8AA58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文本框 86">
            <a:extLst>
              <a:ext uri="{FF2B5EF4-FFF2-40B4-BE49-F238E27FC236}">
                <a16:creationId xmlns:a16="http://schemas.microsoft.com/office/drawing/2014/main" id="{9D19454D-FF05-451B-9E38-99B6FE499AC8}"/>
              </a:ext>
            </a:extLst>
          </p:cNvPr>
          <p:cNvSpPr txBox="1"/>
          <p:nvPr/>
        </p:nvSpPr>
        <p:spPr>
          <a:xfrm>
            <a:off x="4363376" y="1514045"/>
            <a:ext cx="34644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3200" b="0" i="0" u="none" strike="noStrike" kern="1200" cap="none" spc="0" normalizeH="0" baseline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Objectifs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de stage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44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2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clipart, dessin, Graphique, illustration&#10;&#10;Le contenu généré par l’IA peut être incorrect.">
            <a:extLst>
              <a:ext uri="{FF2B5EF4-FFF2-40B4-BE49-F238E27FC236}">
                <a16:creationId xmlns:a16="http://schemas.microsoft.com/office/drawing/2014/main" id="{D11D624D-25A5-5F14-FF9B-16A0B33C7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636" y="710328"/>
            <a:ext cx="2697994" cy="2697994"/>
          </a:xfrm>
          <a:prstGeom prst="rect">
            <a:avLst/>
          </a:prstGeom>
        </p:spPr>
      </p:pic>
      <p:pic>
        <p:nvPicPr>
          <p:cNvPr id="1026" name="Picture 2" descr="Modèle de molécule de dioxyde de carbone CO2 et de formules chimiques  Illustration vectorielle | Vecteur Premium">
            <a:extLst>
              <a:ext uri="{FF2B5EF4-FFF2-40B4-BE49-F238E27FC236}">
                <a16:creationId xmlns:a16="http://schemas.microsoft.com/office/drawing/2014/main" id="{DAE3EE31-98C4-8AF6-7DA8-F1B632D94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497" y="745599"/>
            <a:ext cx="1006168" cy="100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B92E24FE-6F31-466D-7045-1876714251C1}"/>
              </a:ext>
            </a:extLst>
          </p:cNvPr>
          <p:cNvSpPr txBox="1"/>
          <p:nvPr/>
        </p:nvSpPr>
        <p:spPr>
          <a:xfrm>
            <a:off x="350588" y="801184"/>
            <a:ext cx="7223472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Les émissions de CO</a:t>
            </a:r>
            <a:r>
              <a:rPr lang="fr-F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dans l’industrie posent des problèmes au niveau environnemental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Le réchauffement climatique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Fonte des glaciers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Phénomènes météorologiques extrêmes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Perte de biodiversité ….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05B6643-6217-57FF-E5B1-EBBAF61D7493}"/>
              </a:ext>
            </a:extLst>
          </p:cNvPr>
          <p:cNvSpPr txBox="1"/>
          <p:nvPr/>
        </p:nvSpPr>
        <p:spPr>
          <a:xfrm>
            <a:off x="1637694" y="3352194"/>
            <a:ext cx="9637857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Parmi les solutions proposées pour pallier ce problème on trouve le CCS, le CCU et l'ICCU.</a:t>
            </a:r>
          </a:p>
        </p:txBody>
      </p:sp>
      <p:pic>
        <p:nvPicPr>
          <p:cNvPr id="1028" name="Picture 4" descr="Solution - Free electronics icons">
            <a:extLst>
              <a:ext uri="{FF2B5EF4-FFF2-40B4-BE49-F238E27FC236}">
                <a16:creationId xmlns:a16="http://schemas.microsoft.com/office/drawing/2014/main" id="{9AD69150-A9C0-2F11-ECC5-3C3A2AFC9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85" y="3313220"/>
            <a:ext cx="933138" cy="636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777D36B9-A4D7-D1F4-3162-474EBCBF37AE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6A7E16E-C988-5ACB-49D4-B2E043E8F997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71AFB0E-1624-55B4-3520-6F738DA20879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C77F68B-8BBA-14EC-8B0C-30A26B4E2E3F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8ED21BA-9A78-3AA0-9F6C-6867D3A79349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pic>
        <p:nvPicPr>
          <p:cNvPr id="36" name="Graphique 35" descr="Graphique exponentiel avec un remplissage uni">
            <a:extLst>
              <a:ext uri="{FF2B5EF4-FFF2-40B4-BE49-F238E27FC236}">
                <a16:creationId xmlns:a16="http://schemas.microsoft.com/office/drawing/2014/main" id="{202978A7-BF1D-6F3A-4786-4864A9337D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2006" y="1969558"/>
            <a:ext cx="865238" cy="86523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5DBDD7A-33D5-2427-DC93-A00617DFA35E}"/>
              </a:ext>
            </a:extLst>
          </p:cNvPr>
          <p:cNvSpPr txBox="1"/>
          <p:nvPr/>
        </p:nvSpPr>
        <p:spPr>
          <a:xfrm>
            <a:off x="206741" y="4202604"/>
            <a:ext cx="4183391" cy="553998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Capture du </a:t>
            </a:r>
            <a:r>
              <a:rPr lang="fr-FR" sz="1600" dirty="0"/>
              <a:t>CO</a:t>
            </a:r>
            <a:r>
              <a:rPr lang="fr-FR" sz="1600" baseline="-25000" dirty="0"/>
              <a:t>2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et stockage dans des réservoirs souterrains (aquifères, gisements épuisés, etc.)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39FEC5-D676-8542-24B9-CD56B75A1F75}"/>
              </a:ext>
            </a:extLst>
          </p:cNvPr>
          <p:cNvSpPr txBox="1"/>
          <p:nvPr/>
        </p:nvSpPr>
        <p:spPr>
          <a:xfrm>
            <a:off x="1386937" y="3915147"/>
            <a:ext cx="9331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1 CCS</a:t>
            </a:r>
            <a:endParaRPr lang="fr-FR" sz="1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34BD700-7A58-CF55-1051-6DDFD01E8067}"/>
              </a:ext>
            </a:extLst>
          </p:cNvPr>
          <p:cNvSpPr txBox="1"/>
          <p:nvPr/>
        </p:nvSpPr>
        <p:spPr>
          <a:xfrm>
            <a:off x="4593823" y="4216919"/>
            <a:ext cx="3246032" cy="553998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Capture du </a:t>
            </a:r>
            <a:r>
              <a:rPr lang="fr-FR" sz="1600" dirty="0"/>
              <a:t>CO</a:t>
            </a:r>
            <a:r>
              <a:rPr lang="fr-FR" sz="1600" baseline="-25000" dirty="0"/>
              <a:t>2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pour le réutiliser dans l'industrie ou la fabrication de produits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AE7AFC-EF03-32DF-E24D-22015F0F3DED}"/>
              </a:ext>
            </a:extLst>
          </p:cNvPr>
          <p:cNvSpPr txBox="1"/>
          <p:nvPr/>
        </p:nvSpPr>
        <p:spPr>
          <a:xfrm>
            <a:off x="5750271" y="3877990"/>
            <a:ext cx="9331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2 CCU</a:t>
            </a:r>
            <a:endParaRPr lang="fr-FR" sz="1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DD4F2F3-25FC-9521-76E2-A8A1DE3826AE}"/>
              </a:ext>
            </a:extLst>
          </p:cNvPr>
          <p:cNvSpPr txBox="1"/>
          <p:nvPr/>
        </p:nvSpPr>
        <p:spPr>
          <a:xfrm>
            <a:off x="9223744" y="3893345"/>
            <a:ext cx="1139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3 ICCU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ABF077A-36E6-2DB6-F444-D14969E3A0F8}"/>
              </a:ext>
            </a:extLst>
          </p:cNvPr>
          <p:cNvSpPr txBox="1"/>
          <p:nvPr/>
        </p:nvSpPr>
        <p:spPr>
          <a:xfrm>
            <a:off x="8010577" y="4215747"/>
            <a:ext cx="3818015" cy="553998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Processus combiné de capture et d'utilisation du </a:t>
            </a:r>
            <a:r>
              <a:rPr lang="fr-FR" sz="1600" dirty="0"/>
              <a:t>CO</a:t>
            </a:r>
            <a:r>
              <a:rPr lang="fr-FR" sz="1600" baseline="-25000" dirty="0"/>
              <a:t>2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dans un système intégré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B457F2F-D80F-9DA2-8DF9-9652C25B393D}"/>
              </a:ext>
            </a:extLst>
          </p:cNvPr>
          <p:cNvSpPr txBox="1"/>
          <p:nvPr/>
        </p:nvSpPr>
        <p:spPr>
          <a:xfrm>
            <a:off x="2824690" y="6336452"/>
            <a:ext cx="6784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Due à L’utilisation de matériaux adsorbants comme les zéolithes</a:t>
            </a:r>
            <a:endParaRPr lang="fr-FR" sz="1800" dirty="0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8111B09C-8CD6-0F43-6BAF-9DA39C615FB1}"/>
              </a:ext>
            </a:extLst>
          </p:cNvPr>
          <p:cNvSpPr/>
          <p:nvPr/>
        </p:nvSpPr>
        <p:spPr>
          <a:xfrm>
            <a:off x="2053860" y="6329279"/>
            <a:ext cx="666715" cy="376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Picture 2" descr="Was ist Carbon Capture and Utilization?">
            <a:extLst>
              <a:ext uri="{FF2B5EF4-FFF2-40B4-BE49-F238E27FC236}">
                <a16:creationId xmlns:a16="http://schemas.microsoft.com/office/drawing/2014/main" id="{C55D8EE8-3A68-F6E3-0ACE-E9E6BC787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1487" b="35784"/>
          <a:stretch>
            <a:fillRect/>
          </a:stretch>
        </p:blipFill>
        <p:spPr bwMode="auto">
          <a:xfrm>
            <a:off x="832365" y="4389290"/>
            <a:ext cx="2300579" cy="166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Was ist Carbon Capture and Utilization?">
            <a:extLst>
              <a:ext uri="{FF2B5EF4-FFF2-40B4-BE49-F238E27FC236}">
                <a16:creationId xmlns:a16="http://schemas.microsoft.com/office/drawing/2014/main" id="{77F40725-61F7-2EB6-026B-56BAD8EC4C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0" r="7055" b="36351"/>
          <a:stretch>
            <a:fillRect/>
          </a:stretch>
        </p:blipFill>
        <p:spPr bwMode="auto">
          <a:xfrm>
            <a:off x="4601765" y="4320014"/>
            <a:ext cx="3238090" cy="1818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Was ist Carbon Capture and Utilization?">
            <a:extLst>
              <a:ext uri="{FF2B5EF4-FFF2-40B4-BE49-F238E27FC236}">
                <a16:creationId xmlns:a16="http://schemas.microsoft.com/office/drawing/2014/main" id="{873AF76E-8FEB-45BF-9802-74E34D356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0" r="7055" b="36351"/>
          <a:stretch>
            <a:fillRect/>
          </a:stretch>
        </p:blipFill>
        <p:spPr bwMode="auto">
          <a:xfrm>
            <a:off x="8427064" y="4489316"/>
            <a:ext cx="3037189" cy="1038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Was ist Carbon Capture and Utilization?">
            <a:extLst>
              <a:ext uri="{FF2B5EF4-FFF2-40B4-BE49-F238E27FC236}">
                <a16:creationId xmlns:a16="http://schemas.microsoft.com/office/drawing/2014/main" id="{4C49DE97-9475-DC1F-3CE4-560D7079FC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72" b="35784"/>
          <a:stretch>
            <a:fillRect/>
          </a:stretch>
        </p:blipFill>
        <p:spPr bwMode="auto">
          <a:xfrm>
            <a:off x="8400989" y="5059882"/>
            <a:ext cx="3037189" cy="117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4">
            <a:extLst>
              <a:ext uri="{FF2B5EF4-FFF2-40B4-BE49-F238E27FC236}">
                <a16:creationId xmlns:a16="http://schemas.microsoft.com/office/drawing/2014/main" id="{BA9D876C-04C9-C3D4-D9E2-2D9E38B2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2865" y="6247546"/>
            <a:ext cx="1461033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7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FE839B89-0F83-5245-DE4F-2984F6E94A0E}"/>
              </a:ext>
            </a:extLst>
          </p:cNvPr>
          <p:cNvSpPr txBox="1"/>
          <p:nvPr/>
        </p:nvSpPr>
        <p:spPr>
          <a:xfrm>
            <a:off x="4634120" y="1112244"/>
            <a:ext cx="3159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Qu’est-ce qu’une zéolithe ?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57FBFFF-E981-4512-810B-36F3ED3BAB23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F97273C-0323-4057-BC48-10BB1A87F6B3}"/>
              </a:ext>
            </a:extLst>
          </p:cNvPr>
          <p:cNvSpPr txBox="1"/>
          <p:nvPr/>
        </p:nvSpPr>
        <p:spPr>
          <a:xfrm>
            <a:off x="4748016" y="166284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ECC0769-93F5-48C8-9B98-D868DC03EB59}"/>
              </a:ext>
            </a:extLst>
          </p:cNvPr>
          <p:cNvSpPr txBox="1"/>
          <p:nvPr/>
        </p:nvSpPr>
        <p:spPr>
          <a:xfrm>
            <a:off x="7279628" y="166284"/>
            <a:ext cx="3037189" cy="3755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0237C72-0312-4798-8B9B-E11D8A3B61EB}"/>
              </a:ext>
            </a:extLst>
          </p:cNvPr>
          <p:cNvSpPr txBox="1"/>
          <p:nvPr/>
        </p:nvSpPr>
        <p:spPr>
          <a:xfrm>
            <a:off x="10363642" y="166284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4762714-7972-4201-B2B3-341AB84E797C}"/>
              </a:ext>
            </a:extLst>
          </p:cNvPr>
          <p:cNvSpPr txBox="1"/>
          <p:nvPr/>
        </p:nvSpPr>
        <p:spPr>
          <a:xfrm>
            <a:off x="2439714" y="166284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1" name="Espace réservé du numéro de diapositive 4">
            <a:extLst>
              <a:ext uri="{FF2B5EF4-FFF2-40B4-BE49-F238E27FC236}">
                <a16:creationId xmlns:a16="http://schemas.microsoft.com/office/drawing/2014/main" id="{81310FE7-C070-40B3-B73C-50398CD5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62AD8AB-7168-21C3-EB56-ED7964C58F09}"/>
              </a:ext>
            </a:extLst>
          </p:cNvPr>
          <p:cNvSpPr txBox="1"/>
          <p:nvPr/>
        </p:nvSpPr>
        <p:spPr>
          <a:xfrm>
            <a:off x="1200907" y="4660064"/>
            <a:ext cx="3002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</a:t>
            </a:r>
            <a:r>
              <a:rPr lang="fr-FR" sz="1800" baseline="-25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y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/</a:t>
            </a:r>
            <a:r>
              <a:rPr lang="fr-FR" sz="1800" baseline="-25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</a:t>
            </a:r>
            <a:r>
              <a:rPr lang="fr-FR" sz="1800" baseline="30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</a:t>
            </a:r>
            <a:r>
              <a:rPr lang="fr-FR" sz="1800" baseline="30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+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​[(SiO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​)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x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​(AlO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​)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y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​]</a:t>
            </a:r>
            <a:r>
              <a:rPr lang="fr-FR" sz="18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⋅</a:t>
            </a:r>
            <a:r>
              <a:rPr lang="fr-FR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z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​O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5D4AAC-FA97-202E-7AF5-D318F3AFA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234" y="2051944"/>
            <a:ext cx="5605371" cy="9233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Solide cristallin microporeux (famille des tectosilicates)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Réseau régulier de tétraèdres TO₄ (T = Si, Al…)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Canaux et cavités de taille moléculaire (3–20 Å)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3FF29570-7189-BF70-54B8-F43747EC0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172603"/>
              </p:ext>
            </p:extLst>
          </p:nvPr>
        </p:nvGraphicFramePr>
        <p:xfrm>
          <a:off x="5174055" y="3059321"/>
          <a:ext cx="6034550" cy="2440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2" descr="Zeolites | Podcast | Chemistry World">
            <a:extLst>
              <a:ext uri="{FF2B5EF4-FFF2-40B4-BE49-F238E27FC236}">
                <a16:creationId xmlns:a16="http://schemas.microsoft.com/office/drawing/2014/main" id="{E3FDF482-F8AA-C88C-B982-B67B3C702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11" y="789173"/>
            <a:ext cx="3997680" cy="377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6999297-ACD9-3421-E30D-9C7260108EE4}"/>
              </a:ext>
            </a:extLst>
          </p:cNvPr>
          <p:cNvSpPr txBox="1"/>
          <p:nvPr/>
        </p:nvSpPr>
        <p:spPr>
          <a:xfrm>
            <a:off x="533497" y="5745756"/>
            <a:ext cx="3670298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fr-FR" sz="1400" dirty="0"/>
              <a:t>Plus de 250 types de zéolithes existent, classés selon la taille et la forme des pores.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1CF915A-6D52-300D-1873-448C59638459}"/>
              </a:ext>
            </a:extLst>
          </p:cNvPr>
          <p:cNvSpPr txBox="1"/>
          <p:nvPr/>
        </p:nvSpPr>
        <p:spPr>
          <a:xfrm>
            <a:off x="5422340" y="5745756"/>
            <a:ext cx="274208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1400" dirty="0"/>
              <a:t>Environ 40 types présentent des pores de type 8MR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1DD09FCF-96B5-A94A-7AB1-296FCA19ACDB}"/>
              </a:ext>
            </a:extLst>
          </p:cNvPr>
          <p:cNvCxnSpPr>
            <a:cxnSpLocks/>
          </p:cNvCxnSpPr>
          <p:nvPr/>
        </p:nvCxnSpPr>
        <p:spPr>
          <a:xfrm>
            <a:off x="4270983" y="5987853"/>
            <a:ext cx="10605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BEB33A25-30ED-A5B7-DBA1-878A77D2FBC5}"/>
              </a:ext>
            </a:extLst>
          </p:cNvPr>
          <p:cNvSpPr txBox="1"/>
          <p:nvPr/>
        </p:nvSpPr>
        <p:spPr>
          <a:xfrm>
            <a:off x="9119158" y="5853477"/>
            <a:ext cx="2304742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1400" dirty="0"/>
              <a:t>Structure de zéolithe RUT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D7CF9727-E54A-FD3B-A4A4-69A113CE5B79}"/>
              </a:ext>
            </a:extLst>
          </p:cNvPr>
          <p:cNvCxnSpPr>
            <a:cxnSpLocks/>
          </p:cNvCxnSpPr>
          <p:nvPr/>
        </p:nvCxnSpPr>
        <p:spPr>
          <a:xfrm>
            <a:off x="8393693" y="6007365"/>
            <a:ext cx="5244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332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5F659885-D4CD-4422-BD9F-F0EC9C91993F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65A0F3-47B1-4B41-B6B7-0F095326877B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79CEBBC-6554-4CC6-B827-6DDE784C5446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D019713-77CE-4979-9011-57CABA4538A9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DEF36BD-52CB-4BC8-808D-5C820F6C4344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pic>
        <p:nvPicPr>
          <p:cNvPr id="2" name="Image 1" descr="Une image contenant texte, diagramme, capture d’écran, origami&#10;&#10;Le contenu généré par l’IA peut être incorrect.">
            <a:extLst>
              <a:ext uri="{FF2B5EF4-FFF2-40B4-BE49-F238E27FC236}">
                <a16:creationId xmlns:a16="http://schemas.microsoft.com/office/drawing/2014/main" id="{F2DB323A-D619-DD2C-E5C9-31797C69D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3" t="2721" r="57804" b="72918"/>
          <a:stretch>
            <a:fillRect/>
          </a:stretch>
        </p:blipFill>
        <p:spPr>
          <a:xfrm>
            <a:off x="1290977" y="650494"/>
            <a:ext cx="1440618" cy="983892"/>
          </a:xfrm>
          <a:prstGeom prst="rect">
            <a:avLst/>
          </a:prstGeom>
        </p:spPr>
      </p:pic>
      <p:pic>
        <p:nvPicPr>
          <p:cNvPr id="3" name="Image 2" descr="Une image contenant cube, origami&#10;&#10;Le contenu généré par l’IA peut être incorrect.">
            <a:extLst>
              <a:ext uri="{FF2B5EF4-FFF2-40B4-BE49-F238E27FC236}">
                <a16:creationId xmlns:a16="http://schemas.microsoft.com/office/drawing/2014/main" id="{76EF0271-8A88-F90E-0B93-05FEC6CC0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59" y="3558736"/>
            <a:ext cx="542357" cy="502425"/>
          </a:xfrm>
          <a:prstGeom prst="rect">
            <a:avLst/>
          </a:prstGeom>
        </p:spPr>
      </p:pic>
      <p:pic>
        <p:nvPicPr>
          <p:cNvPr id="4" name="Image 3" descr="Une image contenant Symétrie, origami, cube, conception&#10;&#10;Le contenu généré par l’IA peut être incorrect.">
            <a:extLst>
              <a:ext uri="{FF2B5EF4-FFF2-40B4-BE49-F238E27FC236}">
                <a16:creationId xmlns:a16="http://schemas.microsoft.com/office/drawing/2014/main" id="{E04D3832-BE12-AC45-32DE-DD78FF207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559" y="3542654"/>
            <a:ext cx="668575" cy="43913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323E868-B3ED-8B00-786E-B4B6C436DEAD}"/>
              </a:ext>
            </a:extLst>
          </p:cNvPr>
          <p:cNvSpPr txBox="1"/>
          <p:nvPr/>
        </p:nvSpPr>
        <p:spPr>
          <a:xfrm>
            <a:off x="2457354" y="4229301"/>
            <a:ext cx="930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fr-FR" sz="1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 28T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1F2AB0-0C0B-6B10-01C6-5D93EA4E9015}"/>
              </a:ext>
            </a:extLst>
          </p:cNvPr>
          <p:cNvSpPr txBox="1"/>
          <p:nvPr/>
        </p:nvSpPr>
        <p:spPr>
          <a:xfrm>
            <a:off x="3387699" y="4194037"/>
            <a:ext cx="755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fr-FR" sz="1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 16T</a:t>
            </a:r>
            <a:endParaRPr lang="fr-F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B1EFAE4-D1A5-21F2-1236-299F993533E2}"/>
              </a:ext>
            </a:extLst>
          </p:cNvPr>
          <p:cNvSpPr txBox="1"/>
          <p:nvPr/>
        </p:nvSpPr>
        <p:spPr>
          <a:xfrm>
            <a:off x="1457495" y="5540301"/>
            <a:ext cx="1466711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de zéolithe RUT</a:t>
            </a:r>
          </a:p>
        </p:txBody>
      </p:sp>
      <p:pic>
        <p:nvPicPr>
          <p:cNvPr id="8" name="Image 7" descr="Une image contenant texte, diagramme, capture d’écran, origami&#10;&#10;Le contenu généré par l’IA peut être incorrect.">
            <a:extLst>
              <a:ext uri="{FF2B5EF4-FFF2-40B4-BE49-F238E27FC236}">
                <a16:creationId xmlns:a16="http://schemas.microsoft.com/office/drawing/2014/main" id="{5A1ADCC8-5EC1-D3C7-86AF-54C9CB59A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41" t="2349" r="8895" b="73290"/>
          <a:stretch>
            <a:fillRect/>
          </a:stretch>
        </p:blipFill>
        <p:spPr>
          <a:xfrm>
            <a:off x="3711748" y="665428"/>
            <a:ext cx="1514908" cy="864937"/>
          </a:xfrm>
          <a:prstGeom prst="rect">
            <a:avLst/>
          </a:prstGeom>
        </p:spPr>
      </p:pic>
      <p:sp>
        <p:nvSpPr>
          <p:cNvPr id="17" name="Accolade fermante 16">
            <a:extLst>
              <a:ext uri="{FF2B5EF4-FFF2-40B4-BE49-F238E27FC236}">
                <a16:creationId xmlns:a16="http://schemas.microsoft.com/office/drawing/2014/main" id="{3B2A690F-EE63-82BC-75F3-95D5F4CE7EB3}"/>
              </a:ext>
            </a:extLst>
          </p:cNvPr>
          <p:cNvSpPr/>
          <p:nvPr/>
        </p:nvSpPr>
        <p:spPr>
          <a:xfrm rot="5400000">
            <a:off x="2987923" y="399215"/>
            <a:ext cx="410895" cy="3181439"/>
          </a:xfrm>
          <a:prstGeom prst="rightBrace">
            <a:avLst>
              <a:gd name="adj1" fmla="val 0"/>
              <a:gd name="adj2" fmla="val 4782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8" name="Image 17" descr="Une image contenant texte, diagramme, capture d’écran, origami&#10;&#10;Le contenu généré par l’IA peut être incorrect.">
            <a:extLst>
              <a:ext uri="{FF2B5EF4-FFF2-40B4-BE49-F238E27FC236}">
                <a16:creationId xmlns:a16="http://schemas.microsoft.com/office/drawing/2014/main" id="{66212240-490F-AD35-28EF-EFC4A6772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6" t="43273" r="39972" b="46435"/>
          <a:stretch>
            <a:fillRect/>
          </a:stretch>
        </p:blipFill>
        <p:spPr>
          <a:xfrm>
            <a:off x="2801389" y="2292004"/>
            <a:ext cx="930346" cy="57332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4D2EA3F-53BF-B7B1-034D-AD924364B8ED}"/>
              </a:ext>
            </a:extLst>
          </p:cNvPr>
          <p:cNvSpPr/>
          <p:nvPr/>
        </p:nvSpPr>
        <p:spPr>
          <a:xfrm>
            <a:off x="2923933" y="1087241"/>
            <a:ext cx="685258" cy="2664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PBU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638004-1135-6A36-0579-2FFD88CE1A3C}"/>
              </a:ext>
            </a:extLst>
          </p:cNvPr>
          <p:cNvSpPr/>
          <p:nvPr/>
        </p:nvSpPr>
        <p:spPr>
          <a:xfrm>
            <a:off x="2113450" y="2475982"/>
            <a:ext cx="687939" cy="2458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SBU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90FEE85F-1566-E9DD-AF50-A2FD0EB62404}"/>
              </a:ext>
            </a:extLst>
          </p:cNvPr>
          <p:cNvCxnSpPr>
            <a:cxnSpLocks/>
          </p:cNvCxnSpPr>
          <p:nvPr/>
        </p:nvCxnSpPr>
        <p:spPr>
          <a:xfrm>
            <a:off x="3266562" y="2865329"/>
            <a:ext cx="0" cy="677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DD51498-14F9-7894-8904-013E43C17E4F}"/>
              </a:ext>
            </a:extLst>
          </p:cNvPr>
          <p:cNvSpPr/>
          <p:nvPr/>
        </p:nvSpPr>
        <p:spPr>
          <a:xfrm>
            <a:off x="1649508" y="3672925"/>
            <a:ext cx="708608" cy="3293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CBU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21870E5-336F-707B-38E0-FA59046EE1E5}"/>
              </a:ext>
            </a:extLst>
          </p:cNvPr>
          <p:cNvSpPr txBox="1"/>
          <p:nvPr/>
        </p:nvSpPr>
        <p:spPr>
          <a:xfrm>
            <a:off x="1595880" y="1623112"/>
            <a:ext cx="3181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Combinaison des différents tétraèdres  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7E35116-0BFD-1D2E-2F53-694A6F7ABFE1}"/>
              </a:ext>
            </a:extLst>
          </p:cNvPr>
          <p:cNvSpPr txBox="1"/>
          <p:nvPr/>
        </p:nvSpPr>
        <p:spPr>
          <a:xfrm>
            <a:off x="1361265" y="2841754"/>
            <a:ext cx="1561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Combinaison des différents </a:t>
            </a:r>
            <a:r>
              <a:rPr lang="fr-FR" sz="1400" dirty="0" err="1"/>
              <a:t>SBUs</a:t>
            </a:r>
            <a:r>
              <a:rPr lang="fr-FR" sz="1400" dirty="0"/>
              <a:t>  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D392B17-7273-BE09-5120-238121E14AE5}"/>
              </a:ext>
            </a:extLst>
          </p:cNvPr>
          <p:cNvSpPr txBox="1"/>
          <p:nvPr/>
        </p:nvSpPr>
        <p:spPr>
          <a:xfrm>
            <a:off x="1260997" y="4572342"/>
            <a:ext cx="1726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Combinaison des différents CBUs   </a:t>
            </a:r>
          </a:p>
        </p:txBody>
      </p:sp>
      <p:pic>
        <p:nvPicPr>
          <p:cNvPr id="26" name="Image 25" descr="Une image contenant croquis, dessin, conception, origami&#10;&#10;Le contenu généré par l’IA peut être incorrect.">
            <a:extLst>
              <a:ext uri="{FF2B5EF4-FFF2-40B4-BE49-F238E27FC236}">
                <a16:creationId xmlns:a16="http://schemas.microsoft.com/office/drawing/2014/main" id="{6C9F0CD5-5388-6F5A-F1E3-306316405D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516" y="4921082"/>
            <a:ext cx="2501060" cy="14896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AA121C47-A1B6-5A81-ED67-3017802A0516}"/>
              </a:ext>
            </a:extLst>
          </p:cNvPr>
          <p:cNvCxnSpPr>
            <a:cxnSpLocks/>
          </p:cNvCxnSpPr>
          <p:nvPr/>
        </p:nvCxnSpPr>
        <p:spPr>
          <a:xfrm>
            <a:off x="3266562" y="4545250"/>
            <a:ext cx="0" cy="639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6848579C-115E-8009-D6FA-A9F81A274CD8}"/>
              </a:ext>
            </a:extLst>
          </p:cNvPr>
          <p:cNvSpPr/>
          <p:nvPr/>
        </p:nvSpPr>
        <p:spPr>
          <a:xfrm>
            <a:off x="4571718" y="5581110"/>
            <a:ext cx="409428" cy="239158"/>
          </a:xfrm>
          <a:prstGeom prst="ellipse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845C1993-9E35-8AA4-0146-4AAA68182E84}"/>
              </a:ext>
            </a:extLst>
          </p:cNvPr>
          <p:cNvCxnSpPr>
            <a:cxnSpLocks/>
            <a:stCxn id="28" idx="1"/>
          </p:cNvCxnSpPr>
          <p:nvPr/>
        </p:nvCxnSpPr>
        <p:spPr>
          <a:xfrm flipV="1">
            <a:off x="4631677" y="4662619"/>
            <a:ext cx="3652514" cy="95351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777FB13C-3180-D4ED-B4C8-385AD115053E}"/>
              </a:ext>
            </a:extLst>
          </p:cNvPr>
          <p:cNvCxnSpPr>
            <a:cxnSpLocks/>
          </p:cNvCxnSpPr>
          <p:nvPr/>
        </p:nvCxnSpPr>
        <p:spPr>
          <a:xfrm>
            <a:off x="4981146" y="5784538"/>
            <a:ext cx="3765009" cy="62623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Image 30">
            <a:extLst>
              <a:ext uri="{FF2B5EF4-FFF2-40B4-BE49-F238E27FC236}">
                <a16:creationId xmlns:a16="http://schemas.microsoft.com/office/drawing/2014/main" id="{95656F61-21C0-BC6A-8BE5-A289B87244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655" y="2195382"/>
            <a:ext cx="2509908" cy="2109745"/>
          </a:xfrm>
          <a:prstGeom prst="rect">
            <a:avLst/>
          </a:prstGeom>
        </p:spPr>
      </p:pic>
      <p:pic>
        <p:nvPicPr>
          <p:cNvPr id="32" name="Image 31" descr="Une image contenant cœur, cercle, ballon&#10;&#10;Le contenu généré par l’IA peut être incorrect.">
            <a:extLst>
              <a:ext uri="{FF2B5EF4-FFF2-40B4-BE49-F238E27FC236}">
                <a16:creationId xmlns:a16="http://schemas.microsoft.com/office/drawing/2014/main" id="{C03290DA-39E2-7C8F-7892-D8EEA6C3A9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761" y="4520339"/>
            <a:ext cx="2501056" cy="1906004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20F8B3B-54E2-01AB-E282-BE5B27CC4B7A}"/>
              </a:ext>
            </a:extLst>
          </p:cNvPr>
          <p:cNvCxnSpPr>
            <a:cxnSpLocks/>
          </p:cNvCxnSpPr>
          <p:nvPr/>
        </p:nvCxnSpPr>
        <p:spPr>
          <a:xfrm>
            <a:off x="8218827" y="1837890"/>
            <a:ext cx="527328" cy="1149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F42D722C-B0D4-C19B-E012-609A0A14F9D0}"/>
              </a:ext>
            </a:extLst>
          </p:cNvPr>
          <p:cNvSpPr txBox="1"/>
          <p:nvPr/>
        </p:nvSpPr>
        <p:spPr>
          <a:xfrm>
            <a:off x="6660466" y="1455601"/>
            <a:ext cx="199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+mj-lt"/>
              </a:rPr>
              <a:t>Diamètre de (3-4,5 Å)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0AFDD63-7753-C37E-A79E-B9E5B089B00B}"/>
              </a:ext>
            </a:extLst>
          </p:cNvPr>
          <p:cNvSpPr txBox="1"/>
          <p:nvPr/>
        </p:nvSpPr>
        <p:spPr>
          <a:xfrm>
            <a:off x="6631217" y="1184553"/>
            <a:ext cx="199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+mj-lt"/>
              </a:rPr>
              <a:t>Zéolithe à petit pores </a:t>
            </a:r>
          </a:p>
        </p:txBody>
      </p:sp>
      <p:sp>
        <p:nvSpPr>
          <p:cNvPr id="38" name="Espace réservé du numéro de diapositive 4">
            <a:extLst>
              <a:ext uri="{FF2B5EF4-FFF2-40B4-BE49-F238E27FC236}">
                <a16:creationId xmlns:a16="http://schemas.microsoft.com/office/drawing/2014/main" id="{F24441C1-2E31-66C0-5050-2CF9D580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8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Quelle différence entre objectif et but ?">
            <a:extLst>
              <a:ext uri="{FF2B5EF4-FFF2-40B4-BE49-F238E27FC236}">
                <a16:creationId xmlns:a16="http://schemas.microsoft.com/office/drawing/2014/main" id="{90B02D7D-F433-EF43-D816-1B0873FC4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69160"/>
            <a:ext cx="9113520" cy="5520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7AAE42D-4A52-C105-D75E-22633069F0F8}"/>
              </a:ext>
            </a:extLst>
          </p:cNvPr>
          <p:cNvSpPr/>
          <p:nvPr/>
        </p:nvSpPr>
        <p:spPr>
          <a:xfrm>
            <a:off x="5458720" y="3134032"/>
            <a:ext cx="2123768" cy="5899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/>
              <a:t>Echange ionique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F2C7D93-29B1-0F07-1D9E-B60276712B78}"/>
              </a:ext>
            </a:extLst>
          </p:cNvPr>
          <p:cNvSpPr/>
          <p:nvPr/>
        </p:nvSpPr>
        <p:spPr>
          <a:xfrm>
            <a:off x="4259826" y="1394521"/>
            <a:ext cx="2270868" cy="70000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/>
              <a:t>Réduire le rapport Si/Al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6BB3FBA-8855-5032-2050-7645F9E546FC}"/>
              </a:ext>
            </a:extLst>
          </p:cNvPr>
          <p:cNvSpPr/>
          <p:nvPr/>
        </p:nvSpPr>
        <p:spPr>
          <a:xfrm>
            <a:off x="2232798" y="4099560"/>
            <a:ext cx="2270868" cy="7769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Synthèse de nanozéolithe RUT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48BC27F-DCFF-9C75-3847-5E1345D37FCC}"/>
              </a:ext>
            </a:extLst>
          </p:cNvPr>
          <p:cNvSpPr/>
          <p:nvPr/>
        </p:nvSpPr>
        <p:spPr>
          <a:xfrm>
            <a:off x="7376160" y="942658"/>
            <a:ext cx="2545080" cy="92951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/>
              <a:t>Capture de CO</a:t>
            </a:r>
            <a:r>
              <a:rPr lang="fr-FR" sz="1600" baseline="-25000" dirty="0"/>
              <a:t>2</a:t>
            </a:r>
            <a:r>
              <a:rPr lang="fr-FR" sz="1600" dirty="0"/>
              <a:t>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891CEC6-B916-0FF3-5BA3-217E5FA38291}"/>
              </a:ext>
            </a:extLst>
          </p:cNvPr>
          <p:cNvSpPr/>
          <p:nvPr/>
        </p:nvSpPr>
        <p:spPr>
          <a:xfrm>
            <a:off x="6775567" y="5334000"/>
            <a:ext cx="3145673" cy="92951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0B9480F-9704-4E4F-AF89-05B6BE7FDE75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2ABCCF3-12A2-498C-872B-5C6CFC63C46E}"/>
              </a:ext>
            </a:extLst>
          </p:cNvPr>
          <p:cNvSpPr txBox="1"/>
          <p:nvPr/>
        </p:nvSpPr>
        <p:spPr>
          <a:xfrm>
            <a:off x="4748016" y="166284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4297AF2-29E1-4C4D-8653-AED77404FBFA}"/>
              </a:ext>
            </a:extLst>
          </p:cNvPr>
          <p:cNvSpPr txBox="1"/>
          <p:nvPr/>
        </p:nvSpPr>
        <p:spPr>
          <a:xfrm>
            <a:off x="7279628" y="166284"/>
            <a:ext cx="3037189" cy="3755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E316F44-C59E-4FF2-9637-B2A094B1A860}"/>
              </a:ext>
            </a:extLst>
          </p:cNvPr>
          <p:cNvSpPr txBox="1"/>
          <p:nvPr/>
        </p:nvSpPr>
        <p:spPr>
          <a:xfrm>
            <a:off x="2439714" y="161878"/>
            <a:ext cx="2261477" cy="374400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3FFEB91-D300-4784-B173-CB03BFF5605A}"/>
              </a:ext>
            </a:extLst>
          </p:cNvPr>
          <p:cNvSpPr txBox="1"/>
          <p:nvPr/>
        </p:nvSpPr>
        <p:spPr>
          <a:xfrm>
            <a:off x="10363642" y="166284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2" name="Espace réservé du numéro de diapositive 4">
            <a:extLst>
              <a:ext uri="{FF2B5EF4-FFF2-40B4-BE49-F238E27FC236}">
                <a16:creationId xmlns:a16="http://schemas.microsoft.com/office/drawing/2014/main" id="{13549D7E-E9DF-4390-87EB-062EE61F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84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diagramm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DF6FDC1-A3EC-EB43-47B1-2962E2A59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40" y="1652126"/>
            <a:ext cx="11288436" cy="46604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E64212F-8829-ED77-99AD-297D0744F6A3}"/>
              </a:ext>
            </a:extLst>
          </p:cNvPr>
          <p:cNvSpPr txBox="1"/>
          <p:nvPr/>
        </p:nvSpPr>
        <p:spPr>
          <a:xfrm>
            <a:off x="421783" y="934063"/>
            <a:ext cx="365671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Synthèse de nanozéolithe RUT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A7F1242-50F2-46FD-ABBB-792F1CD5E764}"/>
              </a:ext>
            </a:extLst>
          </p:cNvPr>
          <p:cNvSpPr txBox="1"/>
          <p:nvPr/>
        </p:nvSpPr>
        <p:spPr>
          <a:xfrm>
            <a:off x="4748016" y="152216"/>
            <a:ext cx="248478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4C12FF2-D1CA-4942-AA6F-9D4E1BD752A7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DD0AB51-4371-4279-9631-AE3706A5B2AA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D52A0C5-F440-4706-AD83-CB490F891E28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AD553C1D-3933-40C1-B57B-D3BBAE17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F52FA9-AECD-2FE1-24BA-E56BFB34D382}"/>
              </a:ext>
            </a:extLst>
          </p:cNvPr>
          <p:cNvSpPr txBox="1"/>
          <p:nvPr/>
        </p:nvSpPr>
        <p:spPr>
          <a:xfrm>
            <a:off x="4661864" y="984504"/>
            <a:ext cx="4811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 Al2O3 : 13,2 TMAOH : 22 SiO</a:t>
            </a:r>
            <a:r>
              <a:rPr lang="fr-FR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: 400 H</a:t>
            </a:r>
            <a:r>
              <a:rPr lang="fr-FR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endParaRPr lang="fr-FR" dirty="0"/>
          </a:p>
        </p:txBody>
      </p:sp>
      <p:sp>
        <p:nvSpPr>
          <p:cNvPr id="6" name="ZoneTexte 3">
            <a:extLst>
              <a:ext uri="{FF2B5EF4-FFF2-40B4-BE49-F238E27FC236}">
                <a16:creationId xmlns:a16="http://schemas.microsoft.com/office/drawing/2014/main" id="{8D35ABD6-0369-6148-86F0-BC62B15CC135}"/>
              </a:ext>
            </a:extLst>
          </p:cNvPr>
          <p:cNvSpPr txBox="1"/>
          <p:nvPr/>
        </p:nvSpPr>
        <p:spPr>
          <a:xfrm>
            <a:off x="1255594" y="6323645"/>
            <a:ext cx="961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paramètres clés varié : Quantité de l’eau, Rapport molaire Si/Al, Source d’agent structurant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FFD6E2-FE01-2C29-7E44-AF6C553C1AC0}"/>
              </a:ext>
            </a:extLst>
          </p:cNvPr>
          <p:cNvSpPr txBox="1"/>
          <p:nvPr/>
        </p:nvSpPr>
        <p:spPr>
          <a:xfrm>
            <a:off x="380985" y="154672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F0C282E-3AAF-BF5A-0C20-D9CDDDEB1D8F}"/>
              </a:ext>
            </a:extLst>
          </p:cNvPr>
          <p:cNvSpPr txBox="1"/>
          <p:nvPr/>
        </p:nvSpPr>
        <p:spPr>
          <a:xfrm>
            <a:off x="768101" y="1846885"/>
            <a:ext cx="1018496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EF30ECB-913E-34C7-2B77-AFA3C6F6C198}"/>
              </a:ext>
            </a:extLst>
          </p:cNvPr>
          <p:cNvSpPr txBox="1"/>
          <p:nvPr/>
        </p:nvSpPr>
        <p:spPr>
          <a:xfrm>
            <a:off x="725897" y="2042581"/>
            <a:ext cx="132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fr-FR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</a:t>
            </a:r>
            <a:r>
              <a:rPr lang="fr-FR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9H</a:t>
            </a:r>
            <a:r>
              <a:rPr lang="fr-FR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87779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82637A3-2C76-5545-2A31-3C11A6C9A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8917"/>
            <a:ext cx="10972799" cy="46162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7E9F874-7A4F-6FE8-C638-0AD9E43BC806}"/>
              </a:ext>
            </a:extLst>
          </p:cNvPr>
          <p:cNvSpPr txBox="1"/>
          <p:nvPr/>
        </p:nvSpPr>
        <p:spPr>
          <a:xfrm>
            <a:off x="923227" y="934063"/>
            <a:ext cx="365671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Echange ionique par (H+)</a:t>
            </a:r>
          </a:p>
        </p:txBody>
      </p:sp>
      <p:sp>
        <p:nvSpPr>
          <p:cNvPr id="21" name="Espace réservé du numéro de diapositive 4">
            <a:extLst>
              <a:ext uri="{FF2B5EF4-FFF2-40B4-BE49-F238E27FC236}">
                <a16:creationId xmlns:a16="http://schemas.microsoft.com/office/drawing/2014/main" id="{D864955F-B175-4127-AF1F-C7512B9B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CBF7990-6D65-995E-F21A-949BF16BC5B7}"/>
              </a:ext>
            </a:extLst>
          </p:cNvPr>
          <p:cNvSpPr txBox="1"/>
          <p:nvPr/>
        </p:nvSpPr>
        <p:spPr>
          <a:xfrm>
            <a:off x="4748016" y="152216"/>
            <a:ext cx="248478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D96BD41-87D2-EDA9-FB16-D534DE42AD9C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34C710-4430-5480-3BA9-75783E35AD10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B4A7707-9787-51E3-2C07-8922E149F7F8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DA9CED7-7766-3F7E-5D7F-4861A72AC5BE}"/>
              </a:ext>
            </a:extLst>
          </p:cNvPr>
          <p:cNvSpPr txBox="1"/>
          <p:nvPr/>
        </p:nvSpPr>
        <p:spPr>
          <a:xfrm>
            <a:off x="380985" y="154672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92441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diagramme, électroménager&#10;&#10;Le contenu généré par l’IA peut être incorrect.">
            <a:extLst>
              <a:ext uri="{FF2B5EF4-FFF2-40B4-BE49-F238E27FC236}">
                <a16:creationId xmlns:a16="http://schemas.microsoft.com/office/drawing/2014/main" id="{E36AD40B-BA31-DC11-53F0-E08EE9705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25" y="1569222"/>
            <a:ext cx="11019462" cy="435471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B1748A0-FE56-3D73-1BE8-EC7661F84BF8}"/>
              </a:ext>
            </a:extLst>
          </p:cNvPr>
          <p:cNvSpPr txBox="1"/>
          <p:nvPr/>
        </p:nvSpPr>
        <p:spPr>
          <a:xfrm>
            <a:off x="421782" y="934063"/>
            <a:ext cx="407647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Echange ionique par (</a:t>
            </a:r>
            <a:r>
              <a:rPr lang="fr-FR" kern="100" dirty="0">
                <a:solidFill>
                  <a:srgbClr val="0E284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Na⁺, Ca²⁺ et Mg²⁺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34D7883-D0D6-8EC1-31F9-24FC1C84229A}"/>
              </a:ext>
            </a:extLst>
          </p:cNvPr>
          <p:cNvSpPr txBox="1"/>
          <p:nvPr/>
        </p:nvSpPr>
        <p:spPr>
          <a:xfrm>
            <a:off x="1021364" y="4542428"/>
            <a:ext cx="1185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Na-RUT</a:t>
            </a:r>
          </a:p>
          <a:p>
            <a:r>
              <a:rPr lang="fr-FR" dirty="0"/>
              <a:t>Ca-RUT</a:t>
            </a:r>
          </a:p>
          <a:p>
            <a:r>
              <a:rPr lang="fr-FR" dirty="0"/>
              <a:t>Mg-RUT</a:t>
            </a:r>
          </a:p>
        </p:txBody>
      </p:sp>
      <p:sp>
        <p:nvSpPr>
          <p:cNvPr id="22" name="Espace réservé du numéro de diapositive 4">
            <a:extLst>
              <a:ext uri="{FF2B5EF4-FFF2-40B4-BE49-F238E27FC236}">
                <a16:creationId xmlns:a16="http://schemas.microsoft.com/office/drawing/2014/main" id="{F183D611-4C1A-4D85-8E1A-2133D8B3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37A9FEC-C48D-41EA-4A10-7B34A91C50D0}"/>
              </a:ext>
            </a:extLst>
          </p:cNvPr>
          <p:cNvSpPr txBox="1"/>
          <p:nvPr/>
        </p:nvSpPr>
        <p:spPr>
          <a:xfrm>
            <a:off x="4748016" y="152216"/>
            <a:ext cx="248478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E88FA2-0BB8-A7A1-1C05-ABA52CD468AA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978C33-D11D-6438-9AF3-B39C7E8C33E3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1158FB-1C39-209C-535D-CA2F74F7E2F3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35A08E-C474-0BD4-A58C-AE1795A5D351}"/>
              </a:ext>
            </a:extLst>
          </p:cNvPr>
          <p:cNvSpPr txBox="1"/>
          <p:nvPr/>
        </p:nvSpPr>
        <p:spPr>
          <a:xfrm>
            <a:off x="380985" y="154672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86221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2A95624A-F69F-BF67-9778-9F7B4ED75D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859694"/>
              </p:ext>
            </p:extLst>
          </p:nvPr>
        </p:nvGraphicFramePr>
        <p:xfrm>
          <a:off x="3412365" y="1753515"/>
          <a:ext cx="5687058" cy="4130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1551DCE7-C59B-A055-B612-179CF2C07A5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5" t="3353" r="13085"/>
          <a:stretch/>
        </p:blipFill>
        <p:spPr bwMode="auto">
          <a:xfrm>
            <a:off x="5665902" y="773522"/>
            <a:ext cx="1140013" cy="9516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6D52B2A-3607-4728-928C-DB2E310B2C73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4" b="3611"/>
          <a:stretch/>
        </p:blipFill>
        <p:spPr bwMode="auto">
          <a:xfrm>
            <a:off x="8550640" y="3099881"/>
            <a:ext cx="1443078" cy="9360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10C38D9-7CE9-D82D-3B81-2F6E35AC141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84" b="19467"/>
          <a:stretch/>
        </p:blipFill>
        <p:spPr bwMode="auto">
          <a:xfrm>
            <a:off x="2607040" y="2957585"/>
            <a:ext cx="1302346" cy="9360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B07E0CA6-A0DE-2BF9-9B06-6027A77BA2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8" name="Picture 4" descr="STA 449 F3 Nevio - NETZSCH Analyzing &amp; Testing">
            <a:extLst>
              <a:ext uri="{FF2B5EF4-FFF2-40B4-BE49-F238E27FC236}">
                <a16:creationId xmlns:a16="http://schemas.microsoft.com/office/drawing/2014/main" id="{81A9989B-53B8-68E5-10AB-57365C2D7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925" y="4716714"/>
            <a:ext cx="1555837" cy="122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nesorb3010 - Efficient Temperature Programmed Desorption">
            <a:extLst>
              <a:ext uri="{FF2B5EF4-FFF2-40B4-BE49-F238E27FC236}">
                <a16:creationId xmlns:a16="http://schemas.microsoft.com/office/drawing/2014/main" id="{71ABC150-EE8D-554F-DB1F-744E98302E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8" t="17158" r="18129" b="21433"/>
          <a:stretch>
            <a:fillRect/>
          </a:stretch>
        </p:blipFill>
        <p:spPr bwMode="auto">
          <a:xfrm>
            <a:off x="3046748" y="4679895"/>
            <a:ext cx="1601623" cy="125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59D3582-7446-FE6A-639D-A91E819E7F1F}"/>
              </a:ext>
            </a:extLst>
          </p:cNvPr>
          <p:cNvSpPr txBox="1"/>
          <p:nvPr/>
        </p:nvSpPr>
        <p:spPr>
          <a:xfrm>
            <a:off x="4668810" y="244906"/>
            <a:ext cx="3174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Structure</a:t>
            </a:r>
            <a:r>
              <a:rPr lang="fr-FR" dirty="0">
                <a:latin typeface="Times New Roman" panose="02020603050405020304" pitchFamily="18" charset="0"/>
                <a:ea typeface="Aptos" panose="020B0004020202020204" pitchFamily="34" charset="0"/>
              </a:rPr>
              <a:t>,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Cristallinité, Pureté</a:t>
            </a:r>
            <a:r>
              <a:rPr lang="fr-FR" dirty="0"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54B4FE-AD56-417E-D036-32E3250459AA}"/>
              </a:ext>
            </a:extLst>
          </p:cNvPr>
          <p:cNvSpPr txBox="1"/>
          <p:nvPr/>
        </p:nvSpPr>
        <p:spPr>
          <a:xfrm>
            <a:off x="7670856" y="4092606"/>
            <a:ext cx="338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Morphologie</a:t>
            </a:r>
            <a:r>
              <a:rPr lang="fr-FR" dirty="0">
                <a:latin typeface="Times New Roman" panose="02020603050405020304" pitchFamily="18" charset="0"/>
                <a:ea typeface="Aptos" panose="020B0004020202020204" pitchFamily="34" charset="0"/>
              </a:rPr>
              <a:t>,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Répartition en taille.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ea typeface="Aptos" panose="020B0004020202020204" pitchFamily="34" charset="0"/>
              </a:rPr>
              <a:t>Analyse des éléments 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18FE30B-9016-0CA2-AB27-946DAC3E1863}"/>
              </a:ext>
            </a:extLst>
          </p:cNvPr>
          <p:cNvSpPr txBox="1"/>
          <p:nvPr/>
        </p:nvSpPr>
        <p:spPr>
          <a:xfrm>
            <a:off x="6616862" y="5940620"/>
            <a:ext cx="373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Stabilité thermique, pertes de masse. 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91C099C-2040-6ED0-DDD4-9262BFDA964E}"/>
              </a:ext>
            </a:extLst>
          </p:cNvPr>
          <p:cNvSpPr txBox="1"/>
          <p:nvPr/>
        </p:nvSpPr>
        <p:spPr>
          <a:xfrm>
            <a:off x="1839629" y="4033564"/>
            <a:ext cx="2634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Vérifier la physisorption et la chimisorption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8B1923A-DBD0-AFC7-48F5-8F1E9CB09D22}"/>
              </a:ext>
            </a:extLst>
          </p:cNvPr>
          <p:cNvSpPr txBox="1"/>
          <p:nvPr/>
        </p:nvSpPr>
        <p:spPr>
          <a:xfrm>
            <a:off x="2354788" y="5924829"/>
            <a:ext cx="3311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ea typeface="Aptos" panose="020B0004020202020204" pitchFamily="34" charset="0"/>
              </a:rPr>
              <a:t>Suivi de la désorption en fonction de Température </a:t>
            </a:r>
            <a:r>
              <a:rPr lang="fr-FR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du </a:t>
            </a:r>
            <a:r>
              <a:rPr lang="fr-FR" dirty="0"/>
              <a:t>CO</a:t>
            </a:r>
            <a:r>
              <a:rPr lang="fr-FR" baseline="-25000" dirty="0"/>
              <a:t>2</a:t>
            </a:r>
            <a:r>
              <a:rPr lang="fr-FR" dirty="0"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fr-FR" dirty="0"/>
          </a:p>
        </p:txBody>
      </p:sp>
      <p:sp>
        <p:nvSpPr>
          <p:cNvPr id="20" name="Espace réservé du numéro de diapositive 4">
            <a:extLst>
              <a:ext uri="{FF2B5EF4-FFF2-40B4-BE49-F238E27FC236}">
                <a16:creationId xmlns:a16="http://schemas.microsoft.com/office/drawing/2014/main" id="{329C65AB-67E7-3772-7CA8-16A8E947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141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82E4976A-0805-FFCC-7E43-B20896D983D7}"/>
              </a:ext>
            </a:extLst>
          </p:cNvPr>
          <p:cNvSpPr/>
          <p:nvPr/>
        </p:nvSpPr>
        <p:spPr>
          <a:xfrm>
            <a:off x="9186130" y="2738509"/>
            <a:ext cx="766916" cy="4833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CB1EBDD-1366-4BB7-9BA4-393228B4F192}"/>
              </a:ext>
            </a:extLst>
          </p:cNvPr>
          <p:cNvGrpSpPr/>
          <p:nvPr/>
        </p:nvGrpSpPr>
        <p:grpSpPr>
          <a:xfrm>
            <a:off x="0" y="1849776"/>
            <a:ext cx="7594864" cy="4646996"/>
            <a:chOff x="-29028" y="1820658"/>
            <a:chExt cx="7594864" cy="4646996"/>
          </a:xfrm>
        </p:grpSpPr>
        <p:pic>
          <p:nvPicPr>
            <p:cNvPr id="37" name="Image 36" descr="Une image contenant texte, diagramme, Tracé, ligne&#10;&#10;Le contenu généré par l’IA peut être incorrect.">
              <a:extLst>
                <a:ext uri="{FF2B5EF4-FFF2-40B4-BE49-F238E27FC236}">
                  <a16:creationId xmlns:a16="http://schemas.microsoft.com/office/drawing/2014/main" id="{14A9F74C-D619-5FA4-E00F-D6ADE78D7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9028" y="1820658"/>
              <a:ext cx="7279628" cy="4646996"/>
            </a:xfrm>
            <a:prstGeom prst="rect">
              <a:avLst/>
            </a:prstGeom>
          </p:spPr>
        </p:pic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CE042195-84B8-229B-61E5-F68DBD2FD768}"/>
                </a:ext>
              </a:extLst>
            </p:cNvPr>
            <p:cNvSpPr txBox="1"/>
            <p:nvPr/>
          </p:nvSpPr>
          <p:spPr>
            <a:xfrm>
              <a:off x="5618507" y="3182719"/>
              <a:ext cx="1521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rgbClr val="04B9CC"/>
                  </a:solidFill>
                </a:rPr>
                <a:t>Référence RUT (IZA)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569A332F-F295-88D2-0C00-35432F0C540A}"/>
                </a:ext>
              </a:extLst>
            </p:cNvPr>
            <p:cNvSpPr txBox="1"/>
            <p:nvPr/>
          </p:nvSpPr>
          <p:spPr>
            <a:xfrm>
              <a:off x="5473183" y="3748447"/>
              <a:ext cx="19922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rgbClr val="B1AA1F"/>
                  </a:solidFill>
                </a:rPr>
                <a:t>NZ-TMAOH400  Calciné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FB997A92-F83E-6EA9-D42E-3BF2C2FE2FB5}"/>
                </a:ext>
              </a:extLst>
            </p:cNvPr>
            <p:cNvSpPr txBox="1"/>
            <p:nvPr/>
          </p:nvSpPr>
          <p:spPr>
            <a:xfrm>
              <a:off x="5325179" y="4054499"/>
              <a:ext cx="2240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rgbClr val="7030A0"/>
                  </a:solidFill>
                </a:rPr>
                <a:t>NZ-TMAOH400 Non Calciné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1CBAD008-6FE6-596A-9163-C889A6DC5859}"/>
                </a:ext>
              </a:extLst>
            </p:cNvPr>
            <p:cNvSpPr txBox="1"/>
            <p:nvPr/>
          </p:nvSpPr>
          <p:spPr>
            <a:xfrm>
              <a:off x="5530527" y="4360551"/>
              <a:ext cx="1491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srgbClr val="00B050"/>
                  </a:solidFill>
                </a:rPr>
                <a:t>NZ-EAU400 Calciné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B4BB2AB0-CA64-27A4-488F-6EF77B9ED40D}"/>
                </a:ext>
              </a:extLst>
            </p:cNvPr>
            <p:cNvSpPr txBox="1"/>
            <p:nvPr/>
          </p:nvSpPr>
          <p:spPr>
            <a:xfrm>
              <a:off x="5407597" y="4622614"/>
              <a:ext cx="1802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srgbClr val="0070C0"/>
                  </a:solidFill>
                </a:rPr>
                <a:t>NZ-EAU400 Non Calciné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2F58FA61-D867-5B3A-F66B-8BB518992C08}"/>
                </a:ext>
              </a:extLst>
            </p:cNvPr>
            <p:cNvSpPr txBox="1"/>
            <p:nvPr/>
          </p:nvSpPr>
          <p:spPr>
            <a:xfrm>
              <a:off x="5530526" y="4918220"/>
              <a:ext cx="1491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srgbClr val="FF0000"/>
                  </a:solidFill>
                </a:rPr>
                <a:t>NZ-EAU600 Calciné</a:t>
              </a: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C29F6E23-8BD0-0C7B-0637-C11948A4485F}"/>
                </a:ext>
              </a:extLst>
            </p:cNvPr>
            <p:cNvSpPr txBox="1"/>
            <p:nvPr/>
          </p:nvSpPr>
          <p:spPr>
            <a:xfrm>
              <a:off x="5413693" y="5223249"/>
              <a:ext cx="1802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NZ-EAU600 Non Calciné</a:t>
              </a:r>
            </a:p>
          </p:txBody>
        </p:sp>
      </p:grpSp>
      <p:sp>
        <p:nvSpPr>
          <p:cNvPr id="46" name="Rectangle 2">
            <a:extLst>
              <a:ext uri="{FF2B5EF4-FFF2-40B4-BE49-F238E27FC236}">
                <a16:creationId xmlns:a16="http://schemas.microsoft.com/office/drawing/2014/main" id="{661784F6-A3DE-BCBF-F88D-9F7DD2F36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250" y="3301352"/>
            <a:ext cx="4720033" cy="2118529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Synthèse réussie d’une nanozéolithe RUT.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Pics stables après calcination → structure stable.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Élargissement des pics → cristallites nanométriques.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EB92C71-2735-4AE9-A58F-735203FCDE05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4089903-E4E2-4367-A792-7DBBE53EAE57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F4F6F4B-33BF-4440-8530-BCB99390C6B7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1AD989C-C41E-42C8-81A3-3BE5A42FA93A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4CA7742-79FA-49DE-BEB0-56B7C2DD887F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4B70A18-FDA1-46F7-BC1F-05B66822CD7A}"/>
              </a:ext>
            </a:extLst>
          </p:cNvPr>
          <p:cNvSpPr txBox="1"/>
          <p:nvPr/>
        </p:nvSpPr>
        <p:spPr>
          <a:xfrm>
            <a:off x="1175656" y="639861"/>
            <a:ext cx="328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Analyse structurale : DRX</a:t>
            </a:r>
          </a:p>
        </p:txBody>
      </p:sp>
      <p:sp>
        <p:nvSpPr>
          <p:cNvPr id="27" name="Espace réservé du numéro de diapositive 4">
            <a:extLst>
              <a:ext uri="{FF2B5EF4-FFF2-40B4-BE49-F238E27FC236}">
                <a16:creationId xmlns:a16="http://schemas.microsoft.com/office/drawing/2014/main" id="{78795064-E571-4062-9150-01A9710F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4524BC4-35C7-D57A-0524-0036A34A0F8A}"/>
              </a:ext>
            </a:extLst>
          </p:cNvPr>
          <p:cNvSpPr txBox="1"/>
          <p:nvPr/>
        </p:nvSpPr>
        <p:spPr>
          <a:xfrm>
            <a:off x="1968585" y="1244818"/>
            <a:ext cx="41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Effet de l’eau, et  Agent structurant  </a:t>
            </a:r>
          </a:p>
        </p:txBody>
      </p:sp>
    </p:spTree>
    <p:extLst>
      <p:ext uri="{BB962C8B-B14F-4D97-AF65-F5344CB8AC3E}">
        <p14:creationId xmlns:p14="http://schemas.microsoft.com/office/powerpoint/2010/main" val="13381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3DF88-2C66-B8F4-E071-9F8B42A1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B9547DB1-E05A-956D-5A9D-A77BD2017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16" y="1559458"/>
            <a:ext cx="7464955" cy="529854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87A3BD38-19F5-EE01-C380-555E1D4B6C31}"/>
              </a:ext>
            </a:extLst>
          </p:cNvPr>
          <p:cNvSpPr txBox="1"/>
          <p:nvPr/>
        </p:nvSpPr>
        <p:spPr>
          <a:xfrm>
            <a:off x="1793280" y="1106385"/>
            <a:ext cx="430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Effet de l’eau, et Agent structurant 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20CF224-94C9-4595-BD3C-9A35F63A2A8F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3B8071C-1784-48A3-9B1B-AF3062119CC3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8F402C1-F085-40A5-A549-92F26E71861A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7AD1915-67E1-45AC-A1A1-2DD87BF2629F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1512406-64F0-4ACC-9868-D684BC804AA8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D402BA6-F4F6-4614-BF66-870EA32ADF83}"/>
              </a:ext>
            </a:extLst>
          </p:cNvPr>
          <p:cNvSpPr txBox="1"/>
          <p:nvPr/>
        </p:nvSpPr>
        <p:spPr>
          <a:xfrm>
            <a:off x="1112534" y="623318"/>
            <a:ext cx="4565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Analyse morphologique : MEB</a:t>
            </a:r>
          </a:p>
        </p:txBody>
      </p:sp>
      <p:sp>
        <p:nvSpPr>
          <p:cNvPr id="27" name="Espace réservé du numéro de diapositive 4">
            <a:extLst>
              <a:ext uri="{FF2B5EF4-FFF2-40B4-BE49-F238E27FC236}">
                <a16:creationId xmlns:a16="http://schemas.microsoft.com/office/drawing/2014/main" id="{082AB04C-7D22-4AA7-93CB-E256543C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7C5C94-8916-B8B9-DBA3-9B0F5ABBC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952" y="2307438"/>
            <a:ext cx="5524507" cy="190129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La morphologie des nanozéolithes RUT évolue avec la teneur en eau du gel de synthèse.</a:t>
            </a:r>
            <a:endParaRPr kumimoji="0" lang="fr-FR" altLang="fr-F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Particules initiales</a:t>
            </a: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(~20 nm)</a:t>
            </a:r>
            <a:r>
              <a:rPr kumimoji="0" lang="fr-FR" altLang="fr-F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plaques agglomérées. Puis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les particules deviennent plus dispersées et sphériques à mesure que l’eau diminue.</a:t>
            </a:r>
            <a:endParaRPr kumimoji="0" lang="fr-FR" altLang="fr-F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112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ACF6-2E9E-BACE-DA5B-7C28E217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E93F10B6-8725-6494-8A63-F58F2A6E827A}"/>
              </a:ext>
            </a:extLst>
          </p:cNvPr>
          <p:cNvSpPr/>
          <p:nvPr/>
        </p:nvSpPr>
        <p:spPr>
          <a:xfrm>
            <a:off x="8219892" y="2322409"/>
            <a:ext cx="766916" cy="4881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9E107BE-F57E-43B6-BD46-600F6843A28A}"/>
              </a:ext>
            </a:extLst>
          </p:cNvPr>
          <p:cNvGrpSpPr/>
          <p:nvPr/>
        </p:nvGrpSpPr>
        <p:grpSpPr>
          <a:xfrm>
            <a:off x="216096" y="2055667"/>
            <a:ext cx="5235822" cy="3792355"/>
            <a:chOff x="329631" y="1545975"/>
            <a:chExt cx="4739262" cy="3494803"/>
          </a:xfrm>
        </p:grpSpPr>
        <p:pic>
          <p:nvPicPr>
            <p:cNvPr id="11" name="Image 10" descr="Une image contenant texte, diagramme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FDFA5DA7-8DCC-680B-F34B-85CDBB298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631" y="1545975"/>
              <a:ext cx="4739262" cy="3494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97AF1AFF-57EC-F5EA-24D6-5CDD135F2A3E}"/>
                </a:ext>
              </a:extLst>
            </p:cNvPr>
            <p:cNvSpPr txBox="1"/>
            <p:nvPr/>
          </p:nvSpPr>
          <p:spPr>
            <a:xfrm>
              <a:off x="854454" y="2335616"/>
              <a:ext cx="566401" cy="375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eau</a:t>
              </a:r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957B7328-5077-D25E-6B6E-E77EE1930711}"/>
                </a:ext>
              </a:extLst>
            </p:cNvPr>
            <p:cNvSpPr txBox="1"/>
            <p:nvPr/>
          </p:nvSpPr>
          <p:spPr>
            <a:xfrm>
              <a:off x="2751562" y="2821674"/>
              <a:ext cx="784566" cy="375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OSDA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900B54CA-644E-45A1-A4CB-AF19A23A4992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0711EBD-AD5C-4765-A255-9D62764876BA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49DEEDB-990C-4930-8B27-6CB44506EB6B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D447134-E048-4675-B40A-5D69D7576399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4ED17E4-1095-45C4-984E-B07737F438A1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3FDB587-EC3E-4780-9332-F570D4C1C2F5}"/>
              </a:ext>
            </a:extLst>
          </p:cNvPr>
          <p:cNvSpPr txBox="1"/>
          <p:nvPr/>
        </p:nvSpPr>
        <p:spPr>
          <a:xfrm>
            <a:off x="1109859" y="771367"/>
            <a:ext cx="4565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ATG-DTG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BAC5DBD-2A56-EE51-1949-AC2AA2D633C1}"/>
              </a:ext>
            </a:extLst>
          </p:cNvPr>
          <p:cNvSpPr txBox="1"/>
          <p:nvPr/>
        </p:nvSpPr>
        <p:spPr>
          <a:xfrm>
            <a:off x="1140681" y="1342489"/>
            <a:ext cx="4210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Effet de l’eau, et Agent structurant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AA29E26-014A-069C-5C2F-941E3FB76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918" y="3104852"/>
            <a:ext cx="6614066" cy="107721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50–120 °C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 Première </a:t>
            </a:r>
            <a:r>
              <a:rPr lang="fr-FR" altLang="fr-FR" sz="1600" dirty="0">
                <a:latin typeface="Arial" panose="020B0604020202020204" pitchFamily="34" charset="0"/>
              </a:rPr>
              <a:t>é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limination de l’eau.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120–300 °C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lang="fr-FR" altLang="fr-FR" sz="1600" dirty="0">
                <a:latin typeface="Arial" panose="020B0604020202020204" pitchFamily="34" charset="0"/>
              </a:rPr>
              <a:t>Second élimination de l’eau.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600</a:t>
            </a:r>
            <a:r>
              <a:rPr lang="fr-FR" altLang="fr-FR" sz="1600" b="1" dirty="0">
                <a:latin typeface="Arial" panose="020B0604020202020204" pitchFamily="34" charset="0"/>
              </a:rPr>
              <a:t>–650 °C</a:t>
            </a:r>
            <a:r>
              <a:rPr lang="fr-FR" altLang="fr-FR" sz="1600" dirty="0">
                <a:latin typeface="Arial" panose="020B0604020202020204" pitchFamily="34" charset="0"/>
              </a:rPr>
              <a:t> : </a:t>
            </a: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</a:rPr>
              <a:t>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écomposition partielle de l’OSDA faiblement retenu.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600" b="1" dirty="0">
                <a:latin typeface="Arial" panose="020B0604020202020204" pitchFamily="34" charset="0"/>
              </a:rPr>
              <a:t> 650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–800 °C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Décomposition de l’OSDA piégé dans les micropores.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E96C52-4BB8-63EA-E16E-C85EC97A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543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8232-C680-4A28-7C41-A11FC7DC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3904AA06-13BA-522E-DAAA-240606847051}"/>
              </a:ext>
            </a:extLst>
          </p:cNvPr>
          <p:cNvSpPr txBox="1"/>
          <p:nvPr/>
        </p:nvSpPr>
        <p:spPr>
          <a:xfrm>
            <a:off x="6735894" y="3548594"/>
            <a:ext cx="5137661" cy="12875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structure cristalline est conservée pour NZ-RUT-3 (Si/Al = 7,5).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autres échantillons deviennent amorphes.</a:t>
            </a:r>
          </a:p>
        </p:txBody>
      </p:sp>
      <p:pic>
        <p:nvPicPr>
          <p:cNvPr id="2" name="Image 1" descr="Une image contenant texte, capture d’écran, diagramme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05F16F62-279D-840C-E2D5-03F26C8BD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1599"/>
            <a:ext cx="6599413" cy="466028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1E3866FA-E27E-C20A-EE03-9BF54CAA42D2}"/>
              </a:ext>
            </a:extLst>
          </p:cNvPr>
          <p:cNvSpPr/>
          <p:nvPr/>
        </p:nvSpPr>
        <p:spPr>
          <a:xfrm>
            <a:off x="8923650" y="2941347"/>
            <a:ext cx="766916" cy="4833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05C26F4-0370-4334-BB60-6816DB81BD8D}"/>
              </a:ext>
            </a:extLst>
          </p:cNvPr>
          <p:cNvSpPr txBox="1"/>
          <p:nvPr/>
        </p:nvSpPr>
        <p:spPr>
          <a:xfrm>
            <a:off x="1109859" y="771367"/>
            <a:ext cx="328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Analyse structurale : DRX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EE713E5-2F70-4A75-9CC8-1D845B865786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4B1F89F-7052-4784-A18F-2A2EC29E3B02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0726E00-71A8-45FC-8942-0D70AAB9EED4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9EC3B67-588F-417F-AC68-3CA2FF6C1E82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34231B6-D59B-43E9-B0BB-8B2E9B55313D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1" name="Espace réservé du numéro de diapositive 4">
            <a:extLst>
              <a:ext uri="{FF2B5EF4-FFF2-40B4-BE49-F238E27FC236}">
                <a16:creationId xmlns:a16="http://schemas.microsoft.com/office/drawing/2014/main" id="{8277616C-72BF-420E-9FE6-9C3BB82F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76F1D7A-D171-8E89-ED1D-1EEF0B9EEA96}"/>
              </a:ext>
            </a:extLst>
          </p:cNvPr>
          <p:cNvSpPr txBox="1"/>
          <p:nvPr/>
        </p:nvSpPr>
        <p:spPr>
          <a:xfrm>
            <a:off x="1697838" y="1375788"/>
            <a:ext cx="620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Effet de Rapport molaire Si/Al et Agent structurant 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AE29AFB-348B-CF0F-CF4A-33BF0A647F06}"/>
              </a:ext>
            </a:extLst>
          </p:cNvPr>
          <p:cNvSpPr/>
          <p:nvPr/>
        </p:nvSpPr>
        <p:spPr>
          <a:xfrm>
            <a:off x="4359054" y="5227093"/>
            <a:ext cx="854390" cy="4230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2853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5F48-0D7F-ED8E-08AD-8C968961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F7D22C34-E4D7-ED56-B58E-70DC89EE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17" y="1685133"/>
            <a:ext cx="6813356" cy="438048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8A44D13C-D5CA-6D8B-72DE-38CC7B26AC03}"/>
              </a:ext>
            </a:extLst>
          </p:cNvPr>
          <p:cNvSpPr/>
          <p:nvPr/>
        </p:nvSpPr>
        <p:spPr>
          <a:xfrm>
            <a:off x="9170657" y="2577283"/>
            <a:ext cx="766916" cy="4833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8A64968F-D089-2CD1-4109-0E4CEDC53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246" y="3121801"/>
            <a:ext cx="5023738" cy="2118529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L’échange ionique n’altère pas la charpente cristalline.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Pics supplémentaires observés dans l’échantillon échangé au Na⁺, probablement dus à des résidus d’impuretés.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AE246BB-E8FF-41E0-BD83-26AF1BA1F791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6AD0EBB-53DF-4CFD-BB69-FD054DDE94C3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B75BEF6-ACDD-4C7C-8A41-1ED2EE2B2B50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3F2BEBD-1871-4053-8F2E-3641CBA5A8C2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C522E6C-59D8-4E8B-A848-90747CC36BE3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57C49F3-8416-414C-9180-DEFF9A068C1B}"/>
              </a:ext>
            </a:extLst>
          </p:cNvPr>
          <p:cNvSpPr txBox="1"/>
          <p:nvPr/>
        </p:nvSpPr>
        <p:spPr>
          <a:xfrm>
            <a:off x="1109859" y="668929"/>
            <a:ext cx="5232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Analyse structurale : DRX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0D74F6-AC60-4060-B5B9-6EF51578EF4C}"/>
              </a:ext>
            </a:extLst>
          </p:cNvPr>
          <p:cNvSpPr txBox="1"/>
          <p:nvPr/>
        </p:nvSpPr>
        <p:spPr>
          <a:xfrm>
            <a:off x="2074105" y="1192420"/>
            <a:ext cx="2627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Echange ionique </a:t>
            </a:r>
          </a:p>
        </p:txBody>
      </p:sp>
      <p:sp>
        <p:nvSpPr>
          <p:cNvPr id="25" name="Espace réservé du numéro de diapositive 4">
            <a:extLst>
              <a:ext uri="{FF2B5EF4-FFF2-40B4-BE49-F238E27FC236}">
                <a16:creationId xmlns:a16="http://schemas.microsoft.com/office/drawing/2014/main" id="{C86DA940-E697-40EC-B1C9-1A4BC160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650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71E9C-573A-A96A-92FA-97E1478A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1E1AF609-D9CC-7E09-148B-B9431176D4EA}"/>
              </a:ext>
            </a:extLst>
          </p:cNvPr>
          <p:cNvSpPr txBox="1"/>
          <p:nvPr/>
        </p:nvSpPr>
        <p:spPr>
          <a:xfrm>
            <a:off x="1386937" y="1255145"/>
            <a:ext cx="2256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Echange ionique </a:t>
            </a:r>
          </a:p>
        </p:txBody>
      </p:sp>
      <p:pic>
        <p:nvPicPr>
          <p:cNvPr id="2" name="Image 1" descr="Une image contenant capture d’écran, noir, noir et blanc, monochrome&#10;&#10;Le contenu généré par l’IA peut être incorrect.">
            <a:extLst>
              <a:ext uri="{FF2B5EF4-FFF2-40B4-BE49-F238E27FC236}">
                <a16:creationId xmlns:a16="http://schemas.microsoft.com/office/drawing/2014/main" id="{8864D35C-40A4-1E7D-8ECC-7D37A0C281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21"/>
          <a:stretch/>
        </p:blipFill>
        <p:spPr bwMode="auto">
          <a:xfrm>
            <a:off x="401104" y="1708145"/>
            <a:ext cx="11389791" cy="32141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14F64F6-B968-00B3-7E02-96A985A39747}"/>
              </a:ext>
            </a:extLst>
          </p:cNvPr>
          <p:cNvSpPr txBox="1"/>
          <p:nvPr/>
        </p:nvSpPr>
        <p:spPr>
          <a:xfrm>
            <a:off x="1407056" y="4908605"/>
            <a:ext cx="192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Na-NZ EAU400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335E96A7-C67F-9417-CE84-4298261C6E4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23172" y="6086512"/>
            <a:ext cx="6739914" cy="36933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Aucune modification morphologique après échange ionique.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E7DA324-80FD-C817-A449-542403112300}"/>
              </a:ext>
            </a:extLst>
          </p:cNvPr>
          <p:cNvSpPr txBox="1"/>
          <p:nvPr/>
        </p:nvSpPr>
        <p:spPr>
          <a:xfrm>
            <a:off x="9374543" y="4908605"/>
            <a:ext cx="192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Ca-NZ EAU400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7D94F79-843F-421D-4606-A9FB29565674}"/>
              </a:ext>
            </a:extLst>
          </p:cNvPr>
          <p:cNvSpPr txBox="1"/>
          <p:nvPr/>
        </p:nvSpPr>
        <p:spPr>
          <a:xfrm>
            <a:off x="5153726" y="4908605"/>
            <a:ext cx="192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Mg-NZ EAU600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2F01E2E-2F75-414D-A16E-309560A7CA13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5652B94-4D9C-48FE-86D3-AA6BF0A4CB5E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0302720-1D7E-4C66-84A0-28ED7CDACAC4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55DC9BB-7261-4B6B-B1CA-3E92B07FB417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9C98FFE-FA7C-41CF-8677-027094B242A6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234BA65-9519-4644-B673-5533F748F6DF}"/>
              </a:ext>
            </a:extLst>
          </p:cNvPr>
          <p:cNvSpPr txBox="1"/>
          <p:nvPr/>
        </p:nvSpPr>
        <p:spPr>
          <a:xfrm>
            <a:off x="1109859" y="771367"/>
            <a:ext cx="4565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Analyse morphologique : MEB</a:t>
            </a:r>
          </a:p>
        </p:txBody>
      </p:sp>
      <p:sp>
        <p:nvSpPr>
          <p:cNvPr id="29" name="Espace réservé du numéro de diapositive 4">
            <a:extLst>
              <a:ext uri="{FF2B5EF4-FFF2-40B4-BE49-F238E27FC236}">
                <a16:creationId xmlns:a16="http://schemas.microsoft.com/office/drawing/2014/main" id="{56C4591E-D706-4913-8473-AF85FFF4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699" y="6261194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D481F12F-731E-9DD7-0A75-61B155D8D1D5}"/>
              </a:ext>
            </a:extLst>
          </p:cNvPr>
          <p:cNvSpPr/>
          <p:nvPr/>
        </p:nvSpPr>
        <p:spPr>
          <a:xfrm>
            <a:off x="5809671" y="5425286"/>
            <a:ext cx="766916" cy="4881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302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ACF6-2E9E-BACE-DA5B-7C28E217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4C9F0B00-2109-32BD-3D39-4DA8C1C15A28}"/>
              </a:ext>
            </a:extLst>
          </p:cNvPr>
          <p:cNvSpPr/>
          <p:nvPr/>
        </p:nvSpPr>
        <p:spPr>
          <a:xfrm>
            <a:off x="8227142" y="2945641"/>
            <a:ext cx="766916" cy="4833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4" name="Image 23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16ADCED4-0B01-8093-8DC8-BE9E84482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88" y="2071639"/>
            <a:ext cx="5637527" cy="34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5381BCA2-78F6-0DEB-4367-BD1C0575C42A}"/>
              </a:ext>
            </a:extLst>
          </p:cNvPr>
          <p:cNvSpPr txBox="1"/>
          <p:nvPr/>
        </p:nvSpPr>
        <p:spPr>
          <a:xfrm>
            <a:off x="6685613" y="3648283"/>
            <a:ext cx="4916774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1400" dirty="0"/>
              <a:t>La stabilité thermique est conservée après échange ionique.</a:t>
            </a:r>
          </a:p>
          <a:p>
            <a:r>
              <a:rPr lang="fr-FR" sz="1400" dirty="0"/>
              <a:t>sauf pour l’échantillon Na⁺ (chute supplémentaire → lavage insuffisant)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83F4B1C-DA70-B94D-6B0A-6EBBCE88E885}"/>
              </a:ext>
            </a:extLst>
          </p:cNvPr>
          <p:cNvSpPr txBox="1"/>
          <p:nvPr/>
        </p:nvSpPr>
        <p:spPr>
          <a:xfrm>
            <a:off x="955842" y="808549"/>
            <a:ext cx="2738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ATG-DTG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64A1DF-DDDF-C1A3-7E5E-FC69AAD3E201}"/>
              </a:ext>
            </a:extLst>
          </p:cNvPr>
          <p:cNvSpPr txBox="1"/>
          <p:nvPr/>
        </p:nvSpPr>
        <p:spPr>
          <a:xfrm>
            <a:off x="1437684" y="1455483"/>
            <a:ext cx="2256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 Echange ionique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DDB0FF-E591-B382-AAC9-09D5890C6750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6C5B205-C3AE-3492-D57B-616BFC68A8A4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57CCE20-ACA3-0230-F2F5-33D1D8DE829D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FFD93B2-7D4F-2607-3861-F5BE7726E869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8AC51E2-38FB-5B31-07AB-20D9391F570D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" name="Espace réservé du numéro de diapositive 4">
            <a:extLst>
              <a:ext uri="{FF2B5EF4-FFF2-40B4-BE49-F238E27FC236}">
                <a16:creationId xmlns:a16="http://schemas.microsoft.com/office/drawing/2014/main" id="{73CE1F28-8721-F923-5F62-508E853C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4751" y="6247546"/>
            <a:ext cx="1379147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205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9DB4-C285-BE59-BD84-73AC7F8A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DDC987D6-40AE-A210-49D7-8DDFC17D4D74}"/>
              </a:ext>
            </a:extLst>
          </p:cNvPr>
          <p:cNvSpPr/>
          <p:nvPr/>
        </p:nvSpPr>
        <p:spPr>
          <a:xfrm rot="16200000">
            <a:off x="7434480" y="2831262"/>
            <a:ext cx="766916" cy="4833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99F31AB1-BC30-A40D-EF57-D56BCFD02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314341"/>
              </p:ext>
            </p:extLst>
          </p:nvPr>
        </p:nvGraphicFramePr>
        <p:xfrm>
          <a:off x="165239" y="1680010"/>
          <a:ext cx="7286172" cy="2425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66">
                  <a:extLst>
                    <a:ext uri="{9D8B030D-6E8A-4147-A177-3AD203B41FA5}">
                      <a16:colId xmlns:a16="http://schemas.microsoft.com/office/drawing/2014/main" val="2039507135"/>
                    </a:ext>
                  </a:extLst>
                </a:gridCol>
                <a:gridCol w="1214203">
                  <a:extLst>
                    <a:ext uri="{9D8B030D-6E8A-4147-A177-3AD203B41FA5}">
                      <a16:colId xmlns:a16="http://schemas.microsoft.com/office/drawing/2014/main" val="4162037309"/>
                    </a:ext>
                  </a:extLst>
                </a:gridCol>
                <a:gridCol w="1199213">
                  <a:extLst>
                    <a:ext uri="{9D8B030D-6E8A-4147-A177-3AD203B41FA5}">
                      <a16:colId xmlns:a16="http://schemas.microsoft.com/office/drawing/2014/main" val="2889621342"/>
                    </a:ext>
                  </a:extLst>
                </a:gridCol>
                <a:gridCol w="1439056">
                  <a:extLst>
                    <a:ext uri="{9D8B030D-6E8A-4147-A177-3AD203B41FA5}">
                      <a16:colId xmlns:a16="http://schemas.microsoft.com/office/drawing/2014/main" val="3471142998"/>
                    </a:ext>
                  </a:extLst>
                </a:gridCol>
                <a:gridCol w="1320434">
                  <a:extLst>
                    <a:ext uri="{9D8B030D-6E8A-4147-A177-3AD203B41FA5}">
                      <a16:colId xmlns:a16="http://schemas.microsoft.com/office/drawing/2014/main" val="3289711799"/>
                    </a:ext>
                  </a:extLst>
                </a:gridCol>
              </a:tblGrid>
              <a:tr h="59640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fr-FR" sz="16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% atome de Si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atome d’Al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Si/Al expérimental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Si/Al théorique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58197"/>
                  </a:ext>
                </a:extLst>
              </a:tr>
              <a:tr h="46522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RUT NZ-EAU600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34,2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9,5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05814"/>
                  </a:ext>
                </a:extLst>
              </a:tr>
              <a:tr h="44917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RUT NZ-EAU400</a:t>
                      </a:r>
                      <a:endParaRPr lang="fr-FR" sz="16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28,5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9,2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21142"/>
                  </a:ext>
                </a:extLst>
              </a:tr>
              <a:tr h="4287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NZ-RUT-3</a:t>
                      </a:r>
                      <a:endParaRPr lang="fr-FR" sz="16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66,3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9,9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6,7</a:t>
                      </a:r>
                      <a:endParaRPr lang="fr-FR" sz="1600" b="1" kern="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7,5</a:t>
                      </a:r>
                      <a:endParaRPr lang="fr-FR" sz="16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764579"/>
                  </a:ext>
                </a:extLst>
              </a:tr>
              <a:tr h="45356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RUT NZ-TMAOH880</a:t>
                      </a:r>
                      <a:endParaRPr lang="fr-FR" sz="16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34,5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2,8</a:t>
                      </a:r>
                      <a:endParaRPr lang="fr-FR" sz="16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12,3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fr-FR" sz="16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28275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E89F2259-64C9-3983-2830-FA78989CD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972407"/>
              </p:ext>
            </p:extLst>
          </p:nvPr>
        </p:nvGraphicFramePr>
        <p:xfrm>
          <a:off x="165239" y="4700515"/>
          <a:ext cx="7644673" cy="1721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6108">
                  <a:extLst>
                    <a:ext uri="{9D8B030D-6E8A-4147-A177-3AD203B41FA5}">
                      <a16:colId xmlns:a16="http://schemas.microsoft.com/office/drawing/2014/main" val="370323291"/>
                    </a:ext>
                  </a:extLst>
                </a:gridCol>
                <a:gridCol w="1043419">
                  <a:extLst>
                    <a:ext uri="{9D8B030D-6E8A-4147-A177-3AD203B41FA5}">
                      <a16:colId xmlns:a16="http://schemas.microsoft.com/office/drawing/2014/main" val="87156705"/>
                    </a:ext>
                  </a:extLst>
                </a:gridCol>
                <a:gridCol w="1001306">
                  <a:extLst>
                    <a:ext uri="{9D8B030D-6E8A-4147-A177-3AD203B41FA5}">
                      <a16:colId xmlns:a16="http://schemas.microsoft.com/office/drawing/2014/main" val="2402114276"/>
                    </a:ext>
                  </a:extLst>
                </a:gridCol>
                <a:gridCol w="1111039">
                  <a:extLst>
                    <a:ext uri="{9D8B030D-6E8A-4147-A177-3AD203B41FA5}">
                      <a16:colId xmlns:a16="http://schemas.microsoft.com/office/drawing/2014/main" val="3423766534"/>
                    </a:ext>
                  </a:extLst>
                </a:gridCol>
                <a:gridCol w="943901">
                  <a:extLst>
                    <a:ext uri="{9D8B030D-6E8A-4147-A177-3AD203B41FA5}">
                      <a16:colId xmlns:a16="http://schemas.microsoft.com/office/drawing/2014/main" val="17080018"/>
                    </a:ext>
                  </a:extLst>
                </a:gridCol>
                <a:gridCol w="842963">
                  <a:extLst>
                    <a:ext uri="{9D8B030D-6E8A-4147-A177-3AD203B41FA5}">
                      <a16:colId xmlns:a16="http://schemas.microsoft.com/office/drawing/2014/main" val="3330204466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323887784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44950815"/>
                    </a:ext>
                  </a:extLst>
                </a:gridCol>
              </a:tblGrid>
              <a:tr h="7075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% atome de Si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atome d’Al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atome de M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Si/Al </a:t>
                      </a:r>
                      <a:r>
                        <a:rPr lang="fr-FR" sz="1600" b="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Si/Al Th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M/Al </a:t>
                      </a:r>
                      <a:r>
                        <a:rPr lang="fr-FR" sz="1600" b="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M/Al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4518734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Na-RUT</a:t>
                      </a:r>
                      <a:endParaRPr lang="fr-FR" sz="1600" b="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89,27</a:t>
                      </a:r>
                      <a:endParaRPr lang="fr-FR" sz="1600" b="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8,34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(Na) 2,40</a:t>
                      </a:r>
                      <a:endParaRPr lang="fr-FR" sz="16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10,70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0,29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00722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Ca-RUT</a:t>
                      </a:r>
                      <a:endParaRPr lang="fr-FR" sz="1600" b="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87,63</a:t>
                      </a:r>
                      <a:endParaRPr lang="fr-FR" sz="1600" b="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8,88</a:t>
                      </a:r>
                      <a:endParaRPr lang="fr-FR" sz="1600" b="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(Ca) 3,27</a:t>
                      </a:r>
                      <a:endParaRPr lang="fr-FR" sz="16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9,86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0,36</a:t>
                      </a:r>
                      <a:endParaRPr lang="fr-FR" sz="1600" b="1" kern="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0,5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4734902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Mg-RUT</a:t>
                      </a:r>
                      <a:endParaRPr lang="fr-FR" sz="1600" b="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90,24</a:t>
                      </a:r>
                      <a:endParaRPr lang="fr-FR" sz="1600" b="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8,88</a:t>
                      </a:r>
                      <a:endParaRPr lang="fr-FR" sz="1600" b="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(Mg) 0,88</a:t>
                      </a:r>
                      <a:endParaRPr lang="fr-FR" sz="16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10,16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0,10</a:t>
                      </a:r>
                      <a:endParaRPr lang="fr-FR" sz="1600" b="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0,5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9244142"/>
                  </a:ext>
                </a:extLst>
              </a:tr>
            </a:tbl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A56C6AF3-6D0F-60B6-34F5-1CC5B21E97DC}"/>
              </a:ext>
            </a:extLst>
          </p:cNvPr>
          <p:cNvSpPr txBox="1"/>
          <p:nvPr/>
        </p:nvSpPr>
        <p:spPr>
          <a:xfrm>
            <a:off x="421783" y="4307605"/>
            <a:ext cx="2256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 Echange ionique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824803F-BBDE-1BA7-FA18-A0372019E872}"/>
              </a:ext>
            </a:extLst>
          </p:cNvPr>
          <p:cNvSpPr txBox="1"/>
          <p:nvPr/>
        </p:nvSpPr>
        <p:spPr>
          <a:xfrm>
            <a:off x="8184465" y="2453314"/>
            <a:ext cx="3842296" cy="12875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Réduction du rapport Si/Al observée de NZ-EAU400/NZ-EAU600 vers NZ-RUT-3.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5B50EAC-DEBE-62BB-D492-73328E33C441}"/>
              </a:ext>
            </a:extLst>
          </p:cNvPr>
          <p:cNvSpPr txBox="1"/>
          <p:nvPr/>
        </p:nvSpPr>
        <p:spPr>
          <a:xfrm>
            <a:off x="8410140" y="4822708"/>
            <a:ext cx="3644208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confirmation du  succès de l’échange ionique (Na⁺, Ca²⁺, Mg²⁺)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ratio molaire M/Al évalue l’efficacité de l’échange ionique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74BE323-DA7F-496A-BF1B-CA74E8B93CA2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165D205-282B-4F02-A3E6-D0FFDA77F5C6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DED5B07-F5C0-4786-8A0E-226FF5D1B080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3CA57F6-19F6-48DA-9EB9-52EA55D110B6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695533F-2472-46FB-9319-777A3D8F6C1F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E1DD6DE-6755-4301-B8EB-0618F49DC80F}"/>
              </a:ext>
            </a:extLst>
          </p:cNvPr>
          <p:cNvSpPr txBox="1"/>
          <p:nvPr/>
        </p:nvSpPr>
        <p:spPr>
          <a:xfrm>
            <a:off x="1109859" y="771367"/>
            <a:ext cx="4565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Analyse quantitative : EDS</a:t>
            </a:r>
          </a:p>
        </p:txBody>
      </p:sp>
      <p:sp>
        <p:nvSpPr>
          <p:cNvPr id="30" name="Espace réservé du numéro de diapositive 4">
            <a:extLst>
              <a:ext uri="{FF2B5EF4-FFF2-40B4-BE49-F238E27FC236}">
                <a16:creationId xmlns:a16="http://schemas.microsoft.com/office/drawing/2014/main" id="{6BBAA0AD-1AE8-46E8-B4E9-3870A5CF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4013" y="6341359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Flèche : bas 1">
            <a:extLst>
              <a:ext uri="{FF2B5EF4-FFF2-40B4-BE49-F238E27FC236}">
                <a16:creationId xmlns:a16="http://schemas.microsoft.com/office/drawing/2014/main" id="{26752141-D1DD-7E83-4C48-9E72518B1826}"/>
              </a:ext>
            </a:extLst>
          </p:cNvPr>
          <p:cNvSpPr/>
          <p:nvPr/>
        </p:nvSpPr>
        <p:spPr>
          <a:xfrm rot="16200000">
            <a:off x="7726568" y="5319693"/>
            <a:ext cx="766916" cy="4833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F0EDCF-D1DC-8962-590E-BB0F4C128CDE}"/>
              </a:ext>
            </a:extLst>
          </p:cNvPr>
          <p:cNvSpPr txBox="1"/>
          <p:nvPr/>
        </p:nvSpPr>
        <p:spPr>
          <a:xfrm>
            <a:off x="421783" y="1189295"/>
            <a:ext cx="620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 Effet de Rapport molaire Si/Al et Agent structurant </a:t>
            </a:r>
          </a:p>
        </p:txBody>
      </p:sp>
    </p:spTree>
    <p:extLst>
      <p:ext uri="{BB962C8B-B14F-4D97-AF65-F5344CB8AC3E}">
        <p14:creationId xmlns:p14="http://schemas.microsoft.com/office/powerpoint/2010/main" val="666381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9E4E7-CE91-FAD0-894D-AF9FE6F9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203E476-29EC-E167-AA54-F82725C0F1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03" y="1308889"/>
            <a:ext cx="7716879" cy="49497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5BB1FC5-F588-2925-75A5-80E1B74C09C7}"/>
              </a:ext>
            </a:extLst>
          </p:cNvPr>
          <p:cNvSpPr txBox="1"/>
          <p:nvPr/>
        </p:nvSpPr>
        <p:spPr>
          <a:xfrm>
            <a:off x="4087843" y="3981490"/>
            <a:ext cx="1226696" cy="37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73 µmol/g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F692571-3388-4876-127D-AECF0F064D53}"/>
              </a:ext>
            </a:extLst>
          </p:cNvPr>
          <p:cNvSpPr txBox="1"/>
          <p:nvPr/>
        </p:nvSpPr>
        <p:spPr>
          <a:xfrm>
            <a:off x="2785417" y="3771913"/>
            <a:ext cx="145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104 µmol/g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8FB7FDD-D9F2-5C27-D529-2E0B8EBE986B}"/>
              </a:ext>
            </a:extLst>
          </p:cNvPr>
          <p:cNvSpPr txBox="1"/>
          <p:nvPr/>
        </p:nvSpPr>
        <p:spPr>
          <a:xfrm>
            <a:off x="1598535" y="1926009"/>
            <a:ext cx="145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215 µmol/g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39EF7E9F-2696-03E0-1B81-B7F827A24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0899" y="2834351"/>
            <a:ext cx="4030212" cy="128753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zéolithe</a:t>
            </a:r>
            <a:r>
              <a:rPr lang="fr-FR" dirty="0"/>
              <a:t> Ca-RUT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présente des sites actifs capables de retenir le CO₂ par physisorption et chimisorption.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5004953-8466-4814-A085-8C5221E63AE1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E7A63D2-B7D5-433D-8EDB-A143D5C5C5D2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4CD639C-9C6A-4C73-A7DC-BFAE7928813C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46F823E-6DC2-406A-826D-090618EF2781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C6FC84B-3622-490F-A74F-7E88B795BBBB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D2B3251-0C7B-4B2D-BEAE-68671E12B4F7}"/>
              </a:ext>
            </a:extLst>
          </p:cNvPr>
          <p:cNvSpPr txBox="1"/>
          <p:nvPr/>
        </p:nvSpPr>
        <p:spPr>
          <a:xfrm>
            <a:off x="1109859" y="771367"/>
            <a:ext cx="6508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Désorption de CO</a:t>
            </a:r>
            <a:r>
              <a:rPr lang="fr-F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 à température programmée</a:t>
            </a:r>
          </a:p>
        </p:txBody>
      </p:sp>
      <p:sp>
        <p:nvSpPr>
          <p:cNvPr id="29" name="Espace réservé du numéro de diapositive 4">
            <a:extLst>
              <a:ext uri="{FF2B5EF4-FFF2-40B4-BE49-F238E27FC236}">
                <a16:creationId xmlns:a16="http://schemas.microsoft.com/office/drawing/2014/main" id="{A50BF4E9-4B78-489F-A20D-40F76E19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5217" y="6340659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5DACA87F-C3EB-03BC-5ED6-D12D4A83B435}"/>
              </a:ext>
            </a:extLst>
          </p:cNvPr>
          <p:cNvCxnSpPr>
            <a:cxnSpLocks/>
          </p:cNvCxnSpPr>
          <p:nvPr/>
        </p:nvCxnSpPr>
        <p:spPr>
          <a:xfrm flipH="1">
            <a:off x="2229468" y="2590480"/>
            <a:ext cx="732327" cy="426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F05C54AF-810B-1E04-9624-F98AAD212DEF}"/>
              </a:ext>
            </a:extLst>
          </p:cNvPr>
          <p:cNvCxnSpPr>
            <a:cxnSpLocks/>
          </p:cNvCxnSpPr>
          <p:nvPr/>
        </p:nvCxnSpPr>
        <p:spPr>
          <a:xfrm flipH="1">
            <a:off x="3527025" y="3283948"/>
            <a:ext cx="1450029" cy="560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C91ED56E-7469-A0F7-C4A1-49E9E830EBD4}"/>
              </a:ext>
            </a:extLst>
          </p:cNvPr>
          <p:cNvCxnSpPr>
            <a:cxnSpLocks/>
          </p:cNvCxnSpPr>
          <p:nvPr/>
        </p:nvCxnSpPr>
        <p:spPr>
          <a:xfrm flipH="1">
            <a:off x="4668744" y="3283948"/>
            <a:ext cx="308310" cy="733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94BEBC06-4FB8-4038-5F28-5AE32D55118B}"/>
              </a:ext>
            </a:extLst>
          </p:cNvPr>
          <p:cNvSpPr txBox="1"/>
          <p:nvPr/>
        </p:nvSpPr>
        <p:spPr>
          <a:xfrm>
            <a:off x="2700250" y="2221148"/>
            <a:ext cx="159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Physisorption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B11D391-A57E-5894-F5C1-A6C536F33E3F}"/>
              </a:ext>
            </a:extLst>
          </p:cNvPr>
          <p:cNvSpPr txBox="1"/>
          <p:nvPr/>
        </p:nvSpPr>
        <p:spPr>
          <a:xfrm>
            <a:off x="4364232" y="2929777"/>
            <a:ext cx="190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Chimisorption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78501FD4-04FB-FDFB-B490-3A7564ACF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0899" y="4371232"/>
            <a:ext cx="4015085" cy="872034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chimisorption d</a:t>
            </a:r>
            <a:r>
              <a:rPr lang="fr-FR" dirty="0"/>
              <a:t>û</a:t>
            </a:r>
            <a:r>
              <a:rPr lang="fr-FR" b="1" dirty="0"/>
              <a:t> 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la construction de carbonate.</a:t>
            </a:r>
          </a:p>
        </p:txBody>
      </p:sp>
    </p:spTree>
    <p:extLst>
      <p:ext uri="{BB962C8B-B14F-4D97-AF65-F5344CB8AC3E}">
        <p14:creationId xmlns:p14="http://schemas.microsoft.com/office/powerpoint/2010/main" val="1745084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B4ADCB7-2E7D-74EE-39A9-89CC8E4561DA}"/>
              </a:ext>
            </a:extLst>
          </p:cNvPr>
          <p:cNvSpPr txBox="1"/>
          <p:nvPr/>
        </p:nvSpPr>
        <p:spPr>
          <a:xfrm>
            <a:off x="2439714" y="1156481"/>
            <a:ext cx="192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H-RUT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81DD1D-391C-18E6-3E60-0BDD8EDC8066}"/>
              </a:ext>
            </a:extLst>
          </p:cNvPr>
          <p:cNvSpPr txBox="1"/>
          <p:nvPr/>
        </p:nvSpPr>
        <p:spPr>
          <a:xfrm>
            <a:off x="8785864" y="1156481"/>
            <a:ext cx="119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Ca-RUT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76FBBC-D3B3-A611-C85A-FCFD5387685D}"/>
              </a:ext>
            </a:extLst>
          </p:cNvPr>
          <p:cNvSpPr txBox="1"/>
          <p:nvPr/>
        </p:nvSpPr>
        <p:spPr>
          <a:xfrm>
            <a:off x="641328" y="5772792"/>
            <a:ext cx="10466383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Présence de CO₂ chimisorbé dans le cas de Ca-RUT indique toujours la construction de carbonate, ce qui est prometteur pour des applications de capture et de conversion du CO₂.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L’adsorption de CO₂ peut être modulée en ajustant la nature du cation.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E50766F-E141-4103-A046-57DBF0CFADA3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D57AFAC-957A-4189-8C0C-9C74C7133C0F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3F80D4F-D3FD-44EB-8188-71304E839BC2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2871C3D-FEB8-4768-8561-907728BD2E02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0C2BCF0-772B-46C2-9400-EBC65E6B9B2F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330348D-81C7-4A01-8C5A-42535E0C2063}"/>
              </a:ext>
            </a:extLst>
          </p:cNvPr>
          <p:cNvSpPr txBox="1"/>
          <p:nvPr/>
        </p:nvSpPr>
        <p:spPr>
          <a:xfrm>
            <a:off x="1110126" y="675101"/>
            <a:ext cx="6508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In situ FTIR : adsorption-désorption de CO</a:t>
            </a:r>
            <a:r>
              <a:rPr lang="fr-F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2683F106-1F11-424E-BAA6-04ED22FCCE01}"/>
              </a:ext>
            </a:extLst>
          </p:cNvPr>
          <p:cNvGrpSpPr/>
          <p:nvPr/>
        </p:nvGrpSpPr>
        <p:grpSpPr>
          <a:xfrm>
            <a:off x="641328" y="1444031"/>
            <a:ext cx="5360632" cy="4186939"/>
            <a:chOff x="400455" y="1091214"/>
            <a:chExt cx="5360632" cy="432000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52A3996A-0829-4B5A-993F-DF02800B4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64" t="9962" r="12690" b="4981"/>
            <a:stretch/>
          </p:blipFill>
          <p:spPr>
            <a:xfrm>
              <a:off x="400455" y="1091214"/>
              <a:ext cx="4966629" cy="4320000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BE40487F-C3FB-486B-AC3F-53CB39B29EDE}"/>
                </a:ext>
              </a:extLst>
            </p:cNvPr>
            <p:cNvSpPr txBox="1"/>
            <p:nvPr/>
          </p:nvSpPr>
          <p:spPr>
            <a:xfrm>
              <a:off x="3332858" y="3502573"/>
              <a:ext cx="2428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fr-FR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 chimisorbé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D0479C6A-9C8B-4B7A-91C8-A748C4F2BEC2}"/>
                </a:ext>
              </a:extLst>
            </p:cNvPr>
            <p:cNvSpPr txBox="1"/>
            <p:nvPr/>
          </p:nvSpPr>
          <p:spPr>
            <a:xfrm>
              <a:off x="1572376" y="2210919"/>
              <a:ext cx="2428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fr-FR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 physisorbé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B43C0F1D-EB2D-4163-87F7-E55BB8B3E6F2}"/>
              </a:ext>
            </a:extLst>
          </p:cNvPr>
          <p:cNvGrpSpPr/>
          <p:nvPr/>
        </p:nvGrpSpPr>
        <p:grpSpPr>
          <a:xfrm>
            <a:off x="6584045" y="1444032"/>
            <a:ext cx="5396070" cy="4186938"/>
            <a:chOff x="6584043" y="1060352"/>
            <a:chExt cx="5396070" cy="4320000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4D03BC72-E687-43C0-89D8-54E6BA24C5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64" t="10115" r="12688" b="5593"/>
            <a:stretch/>
          </p:blipFill>
          <p:spPr>
            <a:xfrm>
              <a:off x="6584043" y="1060352"/>
              <a:ext cx="4966629" cy="4320000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153D5BBD-6EA5-4466-92C8-C6540CD06C31}"/>
                </a:ext>
              </a:extLst>
            </p:cNvPr>
            <p:cNvSpPr txBox="1"/>
            <p:nvPr/>
          </p:nvSpPr>
          <p:spPr>
            <a:xfrm>
              <a:off x="9551884" y="3353954"/>
              <a:ext cx="2428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fr-FR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 chimisorbé</a:t>
              </a:r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758ECEF-7451-484D-888B-FE79898038F8}"/>
                </a:ext>
              </a:extLst>
            </p:cNvPr>
            <p:cNvSpPr txBox="1"/>
            <p:nvPr/>
          </p:nvSpPr>
          <p:spPr>
            <a:xfrm>
              <a:off x="7770381" y="2361209"/>
              <a:ext cx="2428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fr-FR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 physisorbé</a:t>
              </a:r>
            </a:p>
          </p:txBody>
        </p:sp>
      </p:grpSp>
      <p:sp>
        <p:nvSpPr>
          <p:cNvPr id="31" name="Espace réservé du numéro de diapositive 4">
            <a:extLst>
              <a:ext uri="{FF2B5EF4-FFF2-40B4-BE49-F238E27FC236}">
                <a16:creationId xmlns:a16="http://schemas.microsoft.com/office/drawing/2014/main" id="{30AF8E41-62E8-4124-93B3-A33F8CC9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5217" y="6340659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862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onclusion | Introduction à la linguistique">
            <a:extLst>
              <a:ext uri="{FF2B5EF4-FFF2-40B4-BE49-F238E27FC236}">
                <a16:creationId xmlns:a16="http://schemas.microsoft.com/office/drawing/2014/main" id="{CA9C7E57-F323-538D-4F7B-E291982B1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548328"/>
            <a:ext cx="1937982" cy="149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AD9845A-DFA7-43C9-8827-BF5F10DDB5AC}"/>
              </a:ext>
            </a:extLst>
          </p:cNvPr>
          <p:cNvSpPr txBox="1"/>
          <p:nvPr/>
        </p:nvSpPr>
        <p:spPr>
          <a:xfrm>
            <a:off x="380985" y="161878"/>
            <a:ext cx="2011904" cy="374400"/>
          </a:xfrm>
          <a:prstGeom prst="rect">
            <a:avLst/>
          </a:prstGeom>
          <a:solidFill>
            <a:srgbClr val="98AF9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36260D8-1690-4BEA-94CF-5B61B5E280E6}"/>
              </a:ext>
            </a:extLst>
          </p:cNvPr>
          <p:cNvSpPr txBox="1"/>
          <p:nvPr/>
        </p:nvSpPr>
        <p:spPr>
          <a:xfrm>
            <a:off x="4748016" y="152216"/>
            <a:ext cx="248478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Mode expérimental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3F84CD-9933-4D28-83D8-1702BF25932C}"/>
              </a:ext>
            </a:extLst>
          </p:cNvPr>
          <p:cNvSpPr txBox="1"/>
          <p:nvPr/>
        </p:nvSpPr>
        <p:spPr>
          <a:xfrm>
            <a:off x="7279628" y="152216"/>
            <a:ext cx="3037189" cy="375592"/>
          </a:xfrm>
          <a:prstGeom prst="rect">
            <a:avLst/>
          </a:prstGeom>
          <a:solidFill>
            <a:srgbClr val="98AF99"/>
          </a:solidFill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de caractérisation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A5AF2C4-AF8C-4B0B-BCF7-B2095E604FAC}"/>
              </a:ext>
            </a:extLst>
          </p:cNvPr>
          <p:cNvSpPr txBox="1"/>
          <p:nvPr/>
        </p:nvSpPr>
        <p:spPr>
          <a:xfrm>
            <a:off x="10363642" y="152216"/>
            <a:ext cx="1702342" cy="374400"/>
          </a:xfrm>
          <a:prstGeom prst="rect">
            <a:avLst/>
          </a:prstGeom>
          <a:noFill/>
          <a:ln w="190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4DDF7C9-51D2-47FA-9BED-8130D8C4DB06}"/>
              </a:ext>
            </a:extLst>
          </p:cNvPr>
          <p:cNvSpPr txBox="1"/>
          <p:nvPr/>
        </p:nvSpPr>
        <p:spPr>
          <a:xfrm>
            <a:off x="2439714" y="152216"/>
            <a:ext cx="2261477" cy="37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de stage 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1A5DDCF8-1011-420A-AFBC-39E23C91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5217" y="6340659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363285-EEF0-EA9C-47FC-10274DB44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982" y="1897555"/>
            <a:ext cx="10142992" cy="306289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Synthèse de la zéolithe RUT à l’échelle nanométrique</a:t>
            </a: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</a:rPr>
              <a:t> a été réussi pour la première fois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sans agglomérats</a:t>
            </a: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Réduction légère du rapport Si/Al, avec une optimisation reste encore nécessaire</a:t>
            </a: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Échange ionique effectué avec succès sauf le cas de Na-RUT qui contient des impuretés.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</a:rPr>
              <a:t>Le mécanisme de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chimisorption du CO₂ observées avec </a:t>
            </a: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</a:rPr>
              <a:t>Ca-RUT indique la construction de carbonate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fr-FR" altLang="fr-FR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76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Protéger l'environnement, une obligation morale – Lifelagnature.f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latino Linotype"/>
              <a:ea typeface="+mn-ea"/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208" y="535092"/>
            <a:ext cx="4416425" cy="2938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0" y="3297158"/>
            <a:ext cx="12356465" cy="12703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1" u="none" strike="noStrike" kern="1200" cap="none" spc="0" normalizeH="0" baseline="0" noProof="0" dirty="0">
                <a:ln w="3175" cmpd="sng">
                  <a:noFill/>
                </a:ln>
                <a:solidFill>
                  <a:srgbClr val="00642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Merci de votre aimable Attention  </a:t>
            </a: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9ED2DD72-9573-F2C1-FE14-9AE1FFFF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4633" y="6247546"/>
            <a:ext cx="2743200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8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ous-titre 5">
            <a:extLst>
              <a:ext uri="{FF2B5EF4-FFF2-40B4-BE49-F238E27FC236}">
                <a16:creationId xmlns:a16="http://schemas.microsoft.com/office/drawing/2014/main" id="{8CB9C0AD-9EA3-E609-95E1-B5182B3FE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764" y="2825779"/>
            <a:ext cx="11570472" cy="1244211"/>
          </a:xfrm>
          <a:solidFill>
            <a:srgbClr val="98AF99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39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Synthèse de zéolithes de taille nanométrique pour la capture du CO₂ </a:t>
            </a:r>
            <a:endParaRPr lang="fr-FR" sz="39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7" name="Image 6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F7323C9E-7741-9149-89DA-694D31ABEE8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685613" cy="1508456"/>
          </a:xfrm>
          <a:prstGeom prst="rect">
            <a:avLst/>
          </a:prstGeom>
        </p:spPr>
      </p:pic>
      <p:pic>
        <p:nvPicPr>
          <p:cNvPr id="8" name="Image 7" descr="Une image contenant capture d’écran, Police, noir, Graphique&#10;&#10;Le contenu généré par l’IA peut être incorrect.">
            <a:extLst>
              <a:ext uri="{FF2B5EF4-FFF2-40B4-BE49-F238E27FC236}">
                <a16:creationId xmlns:a16="http://schemas.microsoft.com/office/drawing/2014/main" id="{D15F612D-D53C-1712-5D95-43B8F064B5E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22642" y="0"/>
            <a:ext cx="2237251" cy="124421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89133C8-4C89-5DC5-658C-ABF16A746509}"/>
              </a:ext>
            </a:extLst>
          </p:cNvPr>
          <p:cNvSpPr txBox="1"/>
          <p:nvPr/>
        </p:nvSpPr>
        <p:spPr>
          <a:xfrm>
            <a:off x="3046771" y="1837502"/>
            <a:ext cx="6093500" cy="814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Année</a:t>
            </a:r>
            <a:r>
              <a:rPr lang="fr-FR" sz="1800" i="1" kern="100" spc="-7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scolaire</a:t>
            </a:r>
            <a:r>
              <a:rPr lang="fr-FR" sz="1800" i="1" kern="100" spc="-7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: </a:t>
            </a: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2024-2025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Master de Chimie analytique et environnement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32ADC-7BFB-D44E-8BA6-B1E56183D13B}"/>
              </a:ext>
            </a:extLst>
          </p:cNvPr>
          <p:cNvSpPr txBox="1"/>
          <p:nvPr/>
        </p:nvSpPr>
        <p:spPr>
          <a:xfrm>
            <a:off x="3046771" y="4155137"/>
            <a:ext cx="6098458" cy="847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Soutenu le 01 juillet 2025 par :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fr-FR" sz="20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AIT ABDELLAH ABDELHAY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E646727-4229-DB1C-5432-1D03E9267411}"/>
              </a:ext>
            </a:extLst>
          </p:cNvPr>
          <p:cNvSpPr txBox="1"/>
          <p:nvPr/>
        </p:nvSpPr>
        <p:spPr>
          <a:xfrm>
            <a:off x="315155" y="5266976"/>
            <a:ext cx="3557504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fr-F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Encadrée par : 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Mr Mathias Barreau </a:t>
            </a: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Mme Fatim </a:t>
            </a:r>
            <a:r>
              <a:rPr lang="fr-FR" kern="1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ezzahra</a:t>
            </a:r>
            <a:r>
              <a:rPr lang="fr-F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kern="1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Merfouk</a:t>
            </a:r>
            <a:endParaRPr lang="fr-FR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6F6B414-25E3-55AC-39FD-07D7D8546E6F}"/>
              </a:ext>
            </a:extLst>
          </p:cNvPr>
          <p:cNvSpPr txBox="1"/>
          <p:nvPr/>
        </p:nvSpPr>
        <p:spPr>
          <a:xfrm>
            <a:off x="7980952" y="5087824"/>
            <a:ext cx="3000040" cy="144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Jury :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Mr Edwin </a:t>
            </a:r>
            <a:r>
              <a:rPr lang="fr-FR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Clatworthy</a:t>
            </a: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Mme Thomas Karine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Mme A</a:t>
            </a:r>
            <a:r>
              <a:rPr lang="fr-F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urélie Vicente</a:t>
            </a:r>
            <a:endParaRPr lang="fr-FR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381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4FCC775-2324-F06A-5C25-4B3E90C4B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676749"/>
              </p:ext>
            </p:extLst>
          </p:nvPr>
        </p:nvGraphicFramePr>
        <p:xfrm>
          <a:off x="1406013" y="1533832"/>
          <a:ext cx="8937522" cy="49482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9375">
                  <a:extLst>
                    <a:ext uri="{9D8B030D-6E8A-4147-A177-3AD203B41FA5}">
                      <a16:colId xmlns:a16="http://schemas.microsoft.com/office/drawing/2014/main" val="3431524021"/>
                    </a:ext>
                  </a:extLst>
                </a:gridCol>
                <a:gridCol w="1521640">
                  <a:extLst>
                    <a:ext uri="{9D8B030D-6E8A-4147-A177-3AD203B41FA5}">
                      <a16:colId xmlns:a16="http://schemas.microsoft.com/office/drawing/2014/main" val="378061860"/>
                    </a:ext>
                  </a:extLst>
                </a:gridCol>
                <a:gridCol w="1509175">
                  <a:extLst>
                    <a:ext uri="{9D8B030D-6E8A-4147-A177-3AD203B41FA5}">
                      <a16:colId xmlns:a16="http://schemas.microsoft.com/office/drawing/2014/main" val="2963491095"/>
                    </a:ext>
                  </a:extLst>
                </a:gridCol>
                <a:gridCol w="1262544">
                  <a:extLst>
                    <a:ext uri="{9D8B030D-6E8A-4147-A177-3AD203B41FA5}">
                      <a16:colId xmlns:a16="http://schemas.microsoft.com/office/drawing/2014/main" val="2219290158"/>
                    </a:ext>
                  </a:extLst>
                </a:gridCol>
                <a:gridCol w="1005227">
                  <a:extLst>
                    <a:ext uri="{9D8B030D-6E8A-4147-A177-3AD203B41FA5}">
                      <a16:colId xmlns:a16="http://schemas.microsoft.com/office/drawing/2014/main" val="1023696593"/>
                    </a:ext>
                  </a:extLst>
                </a:gridCol>
                <a:gridCol w="873451">
                  <a:extLst>
                    <a:ext uri="{9D8B030D-6E8A-4147-A177-3AD203B41FA5}">
                      <a16:colId xmlns:a16="http://schemas.microsoft.com/office/drawing/2014/main" val="206271265"/>
                    </a:ext>
                  </a:extLst>
                </a:gridCol>
                <a:gridCol w="1136110">
                  <a:extLst>
                    <a:ext uri="{9D8B030D-6E8A-4147-A177-3AD203B41FA5}">
                      <a16:colId xmlns:a16="http://schemas.microsoft.com/office/drawing/2014/main" val="3289426775"/>
                    </a:ext>
                  </a:extLst>
                </a:gridCol>
              </a:tblGrid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r>
                        <a:rPr lang="fr-FR" sz="1600" kern="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fr-FR" sz="1600" kern="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TMAOH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SiO2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H2O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Na2O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Gel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041325528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 (NO</a:t>
                      </a:r>
                      <a:r>
                        <a:rPr lang="fr-FR" sz="1600" kern="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fr-FR" sz="1600" kern="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.9H</a:t>
                      </a:r>
                      <a:r>
                        <a:rPr lang="fr-FR" sz="1600" kern="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TMAOH.5H</a:t>
                      </a:r>
                      <a:r>
                        <a:rPr lang="fr-FR" sz="1600" kern="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Ludox AS-30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Si/Al 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58190416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NZ-EAU600           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11609067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NZ-EAU400           </a:t>
                      </a:r>
                      <a:endParaRPr lang="fr-FR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95725950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NZ-EAU200           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375037899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RUT-3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7,5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560342002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RUT-4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69143057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RUT-5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522887980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RUT-6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55873522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RUT-7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010931262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RUT-8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490618272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RUT-9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463241046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</a:t>
                      </a: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RUT-10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NaCl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428498530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TMAOH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51314175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NZ-TMAOH880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740022486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NZ-TMAOH600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85879189"/>
                  </a:ext>
                </a:extLst>
              </a:tr>
              <a:tr h="291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NZ-TMAOH400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fr-FR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13709772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9594B945-9D4C-9213-1097-E3271D33F76A}"/>
              </a:ext>
            </a:extLst>
          </p:cNvPr>
          <p:cNvSpPr txBox="1"/>
          <p:nvPr/>
        </p:nvSpPr>
        <p:spPr>
          <a:xfrm>
            <a:off x="1189703" y="980022"/>
            <a:ext cx="9370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fr-FR" sz="1800" i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Tableau 1 : Compositions molaires des gels utilisés pour la synthèse des nanozéolithes de type RUT</a:t>
            </a:r>
            <a:endParaRPr lang="fr-FR" sz="1200" i="1" kern="100" dirty="0">
              <a:solidFill>
                <a:srgbClr val="0E284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4">
            <a:extLst>
              <a:ext uri="{FF2B5EF4-FFF2-40B4-BE49-F238E27FC236}">
                <a16:creationId xmlns:a16="http://schemas.microsoft.com/office/drawing/2014/main" id="{E2377FA9-AE65-D393-E913-0F1CCAD9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857" y="6247546"/>
            <a:ext cx="492042" cy="365125"/>
          </a:xfrm>
        </p:spPr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8F8D02-9041-4C59-BC62-13DE0E5C6713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86658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xécutif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xécutif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écuti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1538</TotalTime>
  <Words>1469</Words>
  <Application>Microsoft Office PowerPoint</Application>
  <PresentationFormat>Grand écran</PresentationFormat>
  <Paragraphs>462</Paragraphs>
  <Slides>24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24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Century Gothic</vt:lpstr>
      <vt:lpstr>Courier New</vt:lpstr>
      <vt:lpstr>Palatino Linotype</vt:lpstr>
      <vt:lpstr>Symbol</vt:lpstr>
      <vt:lpstr>Times New Roman</vt:lpstr>
      <vt:lpstr>Wingdings</vt:lpstr>
      <vt:lpstr>Thème Office</vt:lpstr>
      <vt:lpstr>Exécutif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ABDELHAY AIT ABDELLAH</dc:creator>
  <cp:lastModifiedBy>ABDELHAY AIT ABDELLAH</cp:lastModifiedBy>
  <cp:revision>81</cp:revision>
  <dcterms:created xsi:type="dcterms:W3CDTF">2025-06-21T23:15:04Z</dcterms:created>
  <dcterms:modified xsi:type="dcterms:W3CDTF">2025-06-30T20:15:19Z</dcterms:modified>
</cp:coreProperties>
</file>